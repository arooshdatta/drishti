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imes New Roman Bold" charset="1" panose="02020803070505020304"/>
      <p:regular r:id="rId16"/>
    </p:embeddedFont>
    <p:embeddedFont>
      <p:font typeface="Times New Roman" charset="1" panose="020206030504050203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 Id="rId7"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 Id="rId7" Target="../media/image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454354" cy="10380574"/>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69275" r="0" b="-69275"/>
              </a:stretch>
            </a:blipFill>
          </p:spPr>
        </p:sp>
      </p:grpSp>
      <p:sp>
        <p:nvSpPr>
          <p:cNvPr name="Freeform 4" id="4"/>
          <p:cNvSpPr/>
          <p:nvPr/>
        </p:nvSpPr>
        <p:spPr>
          <a:xfrm flipH="false" flipV="false" rot="0">
            <a:off x="1153935" y="2541622"/>
            <a:ext cx="16230600" cy="302552"/>
          </a:xfrm>
          <a:custGeom>
            <a:avLst/>
            <a:gdLst/>
            <a:ahLst/>
            <a:cxnLst/>
            <a:rect r="r" b="b" t="t" l="l"/>
            <a:pathLst>
              <a:path h="302552" w="16230600">
                <a:moveTo>
                  <a:pt x="0" y="0"/>
                </a:moveTo>
                <a:lnTo>
                  <a:pt x="16230600" y="0"/>
                </a:lnTo>
                <a:lnTo>
                  <a:pt x="16230600" y="302553"/>
                </a:lnTo>
                <a:lnTo>
                  <a:pt x="0" y="3025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633298" y="575310"/>
            <a:ext cx="2131571" cy="1004830"/>
            <a:chOff x="0" y="0"/>
            <a:chExt cx="2842095" cy="1339774"/>
          </a:xfrm>
        </p:grpSpPr>
        <p:sp>
          <p:nvSpPr>
            <p:cNvPr name="Freeform 6" id="6"/>
            <p:cNvSpPr/>
            <p:nvPr/>
          </p:nvSpPr>
          <p:spPr>
            <a:xfrm flipH="false" flipV="false" rot="0">
              <a:off x="0" y="0"/>
              <a:ext cx="2842133" cy="1339723"/>
            </a:xfrm>
            <a:custGeom>
              <a:avLst/>
              <a:gdLst/>
              <a:ahLst/>
              <a:cxnLst/>
              <a:rect r="r" b="b" t="t" l="l"/>
              <a:pathLst>
                <a:path h="1339723" w="2842133">
                  <a:moveTo>
                    <a:pt x="0" y="0"/>
                  </a:moveTo>
                  <a:lnTo>
                    <a:pt x="2842133" y="0"/>
                  </a:lnTo>
                  <a:lnTo>
                    <a:pt x="2842133" y="1339723"/>
                  </a:lnTo>
                  <a:lnTo>
                    <a:pt x="0" y="1339723"/>
                  </a:lnTo>
                  <a:lnTo>
                    <a:pt x="0" y="0"/>
                  </a:lnTo>
                  <a:close/>
                </a:path>
              </a:pathLst>
            </a:custGeom>
            <a:blipFill>
              <a:blip r:embed="rId5"/>
              <a:stretch>
                <a:fillRect l="-86" t="0" r="-85" b="-3"/>
              </a:stretch>
            </a:blipFill>
          </p:spPr>
        </p:sp>
      </p:grpSp>
      <p:grpSp>
        <p:nvGrpSpPr>
          <p:cNvPr name="Group 7" id="7"/>
          <p:cNvGrpSpPr/>
          <p:nvPr/>
        </p:nvGrpSpPr>
        <p:grpSpPr>
          <a:xfrm rot="0">
            <a:off x="15978664" y="-269129"/>
            <a:ext cx="2475690" cy="2475690"/>
            <a:chOff x="0" y="0"/>
            <a:chExt cx="3300921" cy="3300921"/>
          </a:xfrm>
        </p:grpSpPr>
        <p:sp>
          <p:nvSpPr>
            <p:cNvPr name="Freeform 8" id="8"/>
            <p:cNvSpPr/>
            <p:nvPr/>
          </p:nvSpPr>
          <p:spPr>
            <a:xfrm flipH="false" flipV="false" rot="0">
              <a:off x="0" y="0"/>
              <a:ext cx="3300984" cy="3300984"/>
            </a:xfrm>
            <a:custGeom>
              <a:avLst/>
              <a:gdLst/>
              <a:ahLst/>
              <a:cxnLst/>
              <a:rect r="r" b="b" t="t" l="l"/>
              <a:pathLst>
                <a:path h="3300984" w="3300984">
                  <a:moveTo>
                    <a:pt x="0" y="0"/>
                  </a:moveTo>
                  <a:lnTo>
                    <a:pt x="3300984" y="0"/>
                  </a:lnTo>
                  <a:lnTo>
                    <a:pt x="3300984" y="3300984"/>
                  </a:lnTo>
                  <a:lnTo>
                    <a:pt x="0" y="3300984"/>
                  </a:lnTo>
                  <a:lnTo>
                    <a:pt x="0" y="0"/>
                  </a:lnTo>
                  <a:close/>
                </a:path>
              </a:pathLst>
            </a:custGeom>
            <a:blipFill>
              <a:blip r:embed="rId6"/>
              <a:stretch>
                <a:fillRect l="0" t="0" r="1" b="1"/>
              </a:stretch>
            </a:blipFill>
          </p:spPr>
        </p:sp>
      </p:grpSp>
      <p:sp>
        <p:nvSpPr>
          <p:cNvPr name="TextBox 9" id="9"/>
          <p:cNvSpPr txBox="true"/>
          <p:nvPr/>
        </p:nvSpPr>
        <p:spPr>
          <a:xfrm rot="0">
            <a:off x="4071266" y="199711"/>
            <a:ext cx="10395937" cy="1325880"/>
          </a:xfrm>
          <a:prstGeom prst="rect">
            <a:avLst/>
          </a:prstGeom>
        </p:spPr>
        <p:txBody>
          <a:bodyPr anchor="t" rtlCol="false" tIns="0" lIns="0" bIns="0" rIns="0">
            <a:spAutoFit/>
          </a:bodyPr>
          <a:lstStyle/>
          <a:p>
            <a:pPr algn="ctr">
              <a:lnSpc>
                <a:spcPts val="9058"/>
              </a:lnSpc>
            </a:pPr>
            <a:r>
              <a:rPr lang="en-US" b="true" sz="5998" spc="-214">
                <a:solidFill>
                  <a:srgbClr val="FFFFFF"/>
                </a:solidFill>
                <a:latin typeface="Times New Roman Bold"/>
                <a:ea typeface="Times New Roman Bold"/>
                <a:cs typeface="Times New Roman Bold"/>
                <a:sym typeface="Times New Roman Bold"/>
              </a:rPr>
              <a:t>HACK MATRIX HACKATHON </a:t>
            </a:r>
          </a:p>
        </p:txBody>
      </p:sp>
      <p:sp>
        <p:nvSpPr>
          <p:cNvPr name="TextBox 10" id="10"/>
          <p:cNvSpPr txBox="true"/>
          <p:nvPr/>
        </p:nvSpPr>
        <p:spPr>
          <a:xfrm rot="0">
            <a:off x="6943646" y="1514570"/>
            <a:ext cx="5026725" cy="866623"/>
          </a:xfrm>
          <a:prstGeom prst="rect">
            <a:avLst/>
          </a:prstGeom>
        </p:spPr>
        <p:txBody>
          <a:bodyPr anchor="t" rtlCol="false" tIns="0" lIns="0" bIns="0" rIns="0">
            <a:spAutoFit/>
          </a:bodyPr>
          <a:lstStyle/>
          <a:p>
            <a:pPr algn="ctr">
              <a:lnSpc>
                <a:spcPts val="6945"/>
              </a:lnSpc>
            </a:pPr>
            <a:r>
              <a:rPr lang="en-US" b="true" sz="4599" spc="-165">
                <a:solidFill>
                  <a:srgbClr val="FFFFFF"/>
                </a:solidFill>
                <a:latin typeface="Times New Roman Bold"/>
                <a:ea typeface="Times New Roman Bold"/>
                <a:cs typeface="Times New Roman Bold"/>
                <a:sym typeface="Times New Roman Bold"/>
              </a:rPr>
              <a:t>TITLE PAGE</a:t>
            </a:r>
          </a:p>
        </p:txBody>
      </p:sp>
      <p:sp>
        <p:nvSpPr>
          <p:cNvPr name="TextBox 11" id="11"/>
          <p:cNvSpPr txBox="true"/>
          <p:nvPr/>
        </p:nvSpPr>
        <p:spPr>
          <a:xfrm rot="0">
            <a:off x="485956" y="3425904"/>
            <a:ext cx="15908512" cy="732243"/>
          </a:xfrm>
          <a:prstGeom prst="rect">
            <a:avLst/>
          </a:prstGeom>
        </p:spPr>
        <p:txBody>
          <a:bodyPr anchor="t" rtlCol="false" tIns="0" lIns="0" bIns="0" rIns="0">
            <a:spAutoFit/>
          </a:bodyPr>
          <a:lstStyle/>
          <a:p>
            <a:pPr algn="l" marL="891436" indent="-297145" lvl="2">
              <a:lnSpc>
                <a:spcPts val="5888"/>
              </a:lnSpc>
              <a:buFont typeface="Arial"/>
              <a:buChar char="⚬"/>
            </a:pPr>
            <a:r>
              <a:rPr lang="en-US" b="true" sz="3898" spc="-140" u="sng">
                <a:solidFill>
                  <a:srgbClr val="FFFFFF"/>
                </a:solidFill>
                <a:latin typeface="Times New Roman Bold"/>
                <a:ea typeface="Times New Roman Bold"/>
                <a:cs typeface="Times New Roman Bold"/>
                <a:sym typeface="Times New Roman Bold"/>
              </a:rPr>
              <a:t>PROJECT TITLE :</a:t>
            </a:r>
            <a:r>
              <a:rPr lang="en-US" b="true" sz="3898" spc="-140">
                <a:solidFill>
                  <a:srgbClr val="FFFFFF"/>
                </a:solidFill>
                <a:latin typeface="Times New Roman Bold"/>
                <a:ea typeface="Times New Roman Bold"/>
                <a:cs typeface="Times New Roman Bold"/>
                <a:sym typeface="Times New Roman Bold"/>
              </a:rPr>
              <a:t>    </a:t>
            </a:r>
            <a:r>
              <a:rPr lang="en-US" sz="3898" spc="-140">
                <a:solidFill>
                  <a:srgbClr val="FFFFFF"/>
                </a:solidFill>
                <a:latin typeface="Times New Roman"/>
                <a:ea typeface="Times New Roman"/>
                <a:cs typeface="Times New Roman"/>
                <a:sym typeface="Times New Roman"/>
              </a:rPr>
              <a:t>Drishti : Intelligent Screen Time &amp; Eye Care App </a:t>
            </a:r>
          </a:p>
        </p:txBody>
      </p:sp>
      <p:sp>
        <p:nvSpPr>
          <p:cNvPr name="TextBox 12" id="12"/>
          <p:cNvSpPr txBox="true"/>
          <p:nvPr/>
        </p:nvSpPr>
        <p:spPr>
          <a:xfrm rot="0">
            <a:off x="476507" y="5100142"/>
            <a:ext cx="7963705" cy="732243"/>
          </a:xfrm>
          <a:prstGeom prst="rect">
            <a:avLst/>
          </a:prstGeom>
        </p:spPr>
        <p:txBody>
          <a:bodyPr anchor="t" rtlCol="false" tIns="0" lIns="0" bIns="0" rIns="0">
            <a:spAutoFit/>
          </a:bodyPr>
          <a:lstStyle/>
          <a:p>
            <a:pPr algn="l" marL="891436" indent="-297145" lvl="2">
              <a:lnSpc>
                <a:spcPts val="5888"/>
              </a:lnSpc>
              <a:buFont typeface="Arial"/>
              <a:buChar char="⚬"/>
            </a:pPr>
            <a:r>
              <a:rPr lang="en-US" b="true" sz="3898" spc="-140" u="sng">
                <a:solidFill>
                  <a:srgbClr val="FFFFFF"/>
                </a:solidFill>
                <a:latin typeface="Times New Roman Bold"/>
                <a:ea typeface="Times New Roman Bold"/>
                <a:cs typeface="Times New Roman Bold"/>
                <a:sym typeface="Times New Roman Bold"/>
              </a:rPr>
              <a:t>TEAM NAME :</a:t>
            </a:r>
            <a:r>
              <a:rPr lang="en-US" b="true" sz="3898" spc="-140">
                <a:solidFill>
                  <a:srgbClr val="FFFFFF"/>
                </a:solidFill>
                <a:latin typeface="Times New Roman Bold"/>
                <a:ea typeface="Times New Roman Bold"/>
                <a:cs typeface="Times New Roman Bold"/>
                <a:sym typeface="Times New Roman Bold"/>
              </a:rPr>
              <a:t> </a:t>
            </a:r>
            <a:r>
              <a:rPr lang="en-US" sz="3898" spc="-140">
                <a:solidFill>
                  <a:srgbClr val="FFFFFF"/>
                </a:solidFill>
                <a:latin typeface="Times New Roman"/>
                <a:ea typeface="Times New Roman"/>
                <a:cs typeface="Times New Roman"/>
                <a:sym typeface="Times New Roman"/>
              </a:rPr>
              <a:t>Team Hackoholics</a:t>
            </a:r>
          </a:p>
        </p:txBody>
      </p:sp>
      <p:sp>
        <p:nvSpPr>
          <p:cNvPr name="TextBox 13" id="13"/>
          <p:cNvSpPr txBox="true"/>
          <p:nvPr/>
        </p:nvSpPr>
        <p:spPr>
          <a:xfrm rot="0">
            <a:off x="485956" y="6777076"/>
            <a:ext cx="12194755" cy="1475193"/>
          </a:xfrm>
          <a:prstGeom prst="rect">
            <a:avLst/>
          </a:prstGeom>
        </p:spPr>
        <p:txBody>
          <a:bodyPr anchor="t" rtlCol="false" tIns="0" lIns="0" bIns="0" rIns="0">
            <a:spAutoFit/>
          </a:bodyPr>
          <a:lstStyle/>
          <a:p>
            <a:pPr algn="l" marL="891436" indent="-297145" lvl="2">
              <a:lnSpc>
                <a:spcPts val="5888"/>
              </a:lnSpc>
              <a:buFont typeface="Arial"/>
              <a:buChar char="⚬"/>
            </a:pPr>
            <a:r>
              <a:rPr lang="en-US" b="true" sz="3898" spc="-140">
                <a:solidFill>
                  <a:srgbClr val="FFFFFF"/>
                </a:solidFill>
                <a:latin typeface="Times New Roman Bold"/>
                <a:ea typeface="Times New Roman Bold"/>
                <a:cs typeface="Times New Roman Bold"/>
                <a:sym typeface="Times New Roman Bold"/>
              </a:rPr>
              <a:t>TEAM MEMBERS :  </a:t>
            </a:r>
            <a:r>
              <a:rPr lang="en-US" sz="3898" spc="-140">
                <a:solidFill>
                  <a:srgbClr val="FFFFFF"/>
                </a:solidFill>
                <a:latin typeface="Times New Roman"/>
                <a:ea typeface="Times New Roman"/>
                <a:cs typeface="Times New Roman"/>
                <a:sym typeface="Times New Roman"/>
              </a:rPr>
              <a:t>Ayush Tiwari, Chandashi Gupta, Shivi Sanjay, Aroosh Datta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29645"/>
            <a:ext cx="18454354" cy="12226010"/>
          </a:xfrm>
          <a:custGeom>
            <a:avLst/>
            <a:gdLst/>
            <a:ahLst/>
            <a:cxnLst/>
            <a:rect r="r" b="b" t="t" l="l"/>
            <a:pathLst>
              <a:path h="12226010" w="18454354">
                <a:moveTo>
                  <a:pt x="0" y="0"/>
                </a:moveTo>
                <a:lnTo>
                  <a:pt x="18454354" y="0"/>
                </a:lnTo>
                <a:lnTo>
                  <a:pt x="18454354" y="12226010"/>
                </a:lnTo>
                <a:lnTo>
                  <a:pt x="0" y="12226010"/>
                </a:lnTo>
                <a:lnTo>
                  <a:pt x="0" y="0"/>
                </a:lnTo>
                <a:close/>
              </a:path>
            </a:pathLst>
          </a:custGeom>
          <a:blipFill>
            <a:blip r:embed="rId2"/>
            <a:stretch>
              <a:fillRect l="0" t="0" r="0" b="0"/>
            </a:stretch>
          </a:blipFill>
        </p:spPr>
      </p:sp>
      <p:sp>
        <p:nvSpPr>
          <p:cNvPr name="Freeform 3" id="3"/>
          <p:cNvSpPr/>
          <p:nvPr/>
        </p:nvSpPr>
        <p:spPr>
          <a:xfrm flipH="false" flipV="false" rot="0">
            <a:off x="1028700" y="1603086"/>
            <a:ext cx="16230600" cy="302552"/>
          </a:xfrm>
          <a:custGeom>
            <a:avLst/>
            <a:gdLst/>
            <a:ahLst/>
            <a:cxnLst/>
            <a:rect r="r" b="b" t="t" l="l"/>
            <a:pathLst>
              <a:path h="302552" w="16230600">
                <a:moveTo>
                  <a:pt x="0" y="0"/>
                </a:moveTo>
                <a:lnTo>
                  <a:pt x="16230600" y="0"/>
                </a:lnTo>
                <a:lnTo>
                  <a:pt x="16230600" y="302552"/>
                </a:lnTo>
                <a:lnTo>
                  <a:pt x="0" y="3025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633298" y="575310"/>
            <a:ext cx="2131571" cy="1004830"/>
            <a:chOff x="0" y="0"/>
            <a:chExt cx="2842095" cy="1339774"/>
          </a:xfrm>
        </p:grpSpPr>
        <p:sp>
          <p:nvSpPr>
            <p:cNvPr name="Freeform 5" id="5"/>
            <p:cNvSpPr/>
            <p:nvPr/>
          </p:nvSpPr>
          <p:spPr>
            <a:xfrm flipH="false" flipV="false" rot="0">
              <a:off x="0" y="0"/>
              <a:ext cx="2842133" cy="1339723"/>
            </a:xfrm>
            <a:custGeom>
              <a:avLst/>
              <a:gdLst/>
              <a:ahLst/>
              <a:cxnLst/>
              <a:rect r="r" b="b" t="t" l="l"/>
              <a:pathLst>
                <a:path h="1339723" w="2842133">
                  <a:moveTo>
                    <a:pt x="0" y="0"/>
                  </a:moveTo>
                  <a:lnTo>
                    <a:pt x="2842133" y="0"/>
                  </a:lnTo>
                  <a:lnTo>
                    <a:pt x="2842133" y="1339723"/>
                  </a:lnTo>
                  <a:lnTo>
                    <a:pt x="0" y="1339723"/>
                  </a:lnTo>
                  <a:lnTo>
                    <a:pt x="0" y="0"/>
                  </a:lnTo>
                  <a:close/>
                </a:path>
              </a:pathLst>
            </a:custGeom>
            <a:blipFill>
              <a:blip r:embed="rId5"/>
              <a:stretch>
                <a:fillRect l="-86" t="0" r="-85" b="-3"/>
              </a:stretch>
            </a:blipFill>
          </p:spPr>
        </p:sp>
      </p:grpSp>
      <p:grpSp>
        <p:nvGrpSpPr>
          <p:cNvPr name="Group 6" id="6"/>
          <p:cNvGrpSpPr/>
          <p:nvPr/>
        </p:nvGrpSpPr>
        <p:grpSpPr>
          <a:xfrm rot="0">
            <a:off x="15978664" y="-269129"/>
            <a:ext cx="2475690" cy="2475690"/>
            <a:chOff x="0" y="0"/>
            <a:chExt cx="3300921" cy="3300921"/>
          </a:xfrm>
        </p:grpSpPr>
        <p:sp>
          <p:nvSpPr>
            <p:cNvPr name="Freeform 7" id="7"/>
            <p:cNvSpPr/>
            <p:nvPr/>
          </p:nvSpPr>
          <p:spPr>
            <a:xfrm flipH="false" flipV="false" rot="0">
              <a:off x="0" y="0"/>
              <a:ext cx="3300984" cy="3300984"/>
            </a:xfrm>
            <a:custGeom>
              <a:avLst/>
              <a:gdLst/>
              <a:ahLst/>
              <a:cxnLst/>
              <a:rect r="r" b="b" t="t" l="l"/>
              <a:pathLst>
                <a:path h="3300984" w="3300984">
                  <a:moveTo>
                    <a:pt x="0" y="0"/>
                  </a:moveTo>
                  <a:lnTo>
                    <a:pt x="3300984" y="0"/>
                  </a:lnTo>
                  <a:lnTo>
                    <a:pt x="3300984" y="3300984"/>
                  </a:lnTo>
                  <a:lnTo>
                    <a:pt x="0" y="3300984"/>
                  </a:lnTo>
                  <a:lnTo>
                    <a:pt x="0" y="0"/>
                  </a:lnTo>
                  <a:close/>
                </a:path>
              </a:pathLst>
            </a:custGeom>
            <a:blipFill>
              <a:blip r:embed="rId6"/>
              <a:stretch>
                <a:fillRect l="0" t="0" r="1" b="1"/>
              </a:stretch>
            </a:blipFill>
          </p:spPr>
        </p:sp>
      </p:grpSp>
      <p:sp>
        <p:nvSpPr>
          <p:cNvPr name="TextBox 8" id="8"/>
          <p:cNvSpPr txBox="true"/>
          <p:nvPr/>
        </p:nvSpPr>
        <p:spPr>
          <a:xfrm rot="0">
            <a:off x="5128813" y="654425"/>
            <a:ext cx="7698524" cy="948661"/>
          </a:xfrm>
          <a:prstGeom prst="rect">
            <a:avLst/>
          </a:prstGeom>
        </p:spPr>
        <p:txBody>
          <a:bodyPr anchor="t" rtlCol="false" tIns="0" lIns="0" bIns="0" rIns="0">
            <a:spAutoFit/>
          </a:bodyPr>
          <a:lstStyle/>
          <a:p>
            <a:pPr algn="ctr">
              <a:lnSpc>
                <a:spcPts val="7559"/>
              </a:lnSpc>
            </a:pPr>
            <a:r>
              <a:rPr lang="en-US" b="true" sz="5398" spc="-430">
                <a:solidFill>
                  <a:srgbClr val="FFFFFF"/>
                </a:solidFill>
                <a:latin typeface="Times New Roman Bold"/>
                <a:ea typeface="Times New Roman Bold"/>
                <a:cs typeface="Times New Roman Bold"/>
                <a:sym typeface="Times New Roman Bold"/>
              </a:rPr>
              <a:t>PROBLEM   STATEMENT</a:t>
            </a:r>
          </a:p>
        </p:txBody>
      </p:sp>
      <p:sp>
        <p:nvSpPr>
          <p:cNvPr name="TextBox 9" id="9"/>
          <p:cNvSpPr txBox="true"/>
          <p:nvPr/>
        </p:nvSpPr>
        <p:spPr>
          <a:xfrm rot="0">
            <a:off x="1057199" y="2448477"/>
            <a:ext cx="16841312" cy="2218143"/>
          </a:xfrm>
          <a:prstGeom prst="rect">
            <a:avLst/>
          </a:prstGeom>
        </p:spPr>
        <p:txBody>
          <a:bodyPr anchor="t" rtlCol="false" tIns="0" lIns="0" bIns="0" rIns="0">
            <a:spAutoFit/>
          </a:bodyPr>
          <a:lstStyle/>
          <a:p>
            <a:pPr algn="l" marL="891437" indent="-297146" lvl="2">
              <a:lnSpc>
                <a:spcPts val="5888"/>
              </a:lnSpc>
              <a:spcBef>
                <a:spcPct val="0"/>
              </a:spcBef>
              <a:buFont typeface="Arial"/>
              <a:buChar char="⚬"/>
            </a:pPr>
            <a:r>
              <a:rPr lang="en-US" b="true" sz="3898" spc="-140" strike="noStrike" u="sng">
                <a:solidFill>
                  <a:srgbClr val="FFFFFF"/>
                </a:solidFill>
                <a:latin typeface="Times New Roman Bold"/>
                <a:ea typeface="Times New Roman Bold"/>
                <a:cs typeface="Times New Roman Bold"/>
                <a:sym typeface="Times New Roman Bold"/>
              </a:rPr>
              <a:t>Describe the problem clearly:</a:t>
            </a:r>
            <a:r>
              <a:rPr lang="en-US" sz="3898" spc="-140" strike="noStrike">
                <a:solidFill>
                  <a:srgbClr val="FFFFFF"/>
                </a:solidFill>
                <a:latin typeface="Times New Roman"/>
                <a:ea typeface="Times New Roman"/>
                <a:cs typeface="Times New Roman"/>
                <a:sym typeface="Times New Roman"/>
              </a:rPr>
              <a:t> Excessive time spent on screens causes digital eye strain, which results in dry eyes, headaches, and blurred vision. People ignore these problems until they get worse.</a:t>
            </a:r>
          </a:p>
        </p:txBody>
      </p:sp>
      <p:sp>
        <p:nvSpPr>
          <p:cNvPr name="TextBox 10" id="10"/>
          <p:cNvSpPr txBox="true"/>
          <p:nvPr/>
        </p:nvSpPr>
        <p:spPr>
          <a:xfrm rot="0">
            <a:off x="1182457" y="5000625"/>
            <a:ext cx="16590796" cy="1475193"/>
          </a:xfrm>
          <a:prstGeom prst="rect">
            <a:avLst/>
          </a:prstGeom>
        </p:spPr>
        <p:txBody>
          <a:bodyPr anchor="t" rtlCol="false" tIns="0" lIns="0" bIns="0" rIns="0">
            <a:spAutoFit/>
          </a:bodyPr>
          <a:lstStyle/>
          <a:p>
            <a:pPr algn="l" marL="891437" indent="-297146" lvl="2">
              <a:lnSpc>
                <a:spcPts val="5888"/>
              </a:lnSpc>
              <a:spcBef>
                <a:spcPct val="0"/>
              </a:spcBef>
              <a:buFont typeface="Arial"/>
              <a:buChar char="⚬"/>
            </a:pPr>
            <a:r>
              <a:rPr lang="en-US" b="true" sz="3898" spc="-140" strike="noStrike" u="sng">
                <a:solidFill>
                  <a:srgbClr val="FFFFFF"/>
                </a:solidFill>
                <a:latin typeface="Times New Roman Bold"/>
                <a:ea typeface="Times New Roman Bold"/>
                <a:cs typeface="Times New Roman Bold"/>
                <a:sym typeface="Times New Roman Bold"/>
              </a:rPr>
              <a:t>Who is affected by this problem:</a:t>
            </a:r>
            <a:r>
              <a:rPr lang="en-US" sz="3898" spc="-140" strike="noStrike">
                <a:solidFill>
                  <a:srgbClr val="FFFFFF"/>
                </a:solidFill>
                <a:latin typeface="Times New Roman"/>
                <a:ea typeface="Times New Roman"/>
                <a:cs typeface="Times New Roman"/>
                <a:sym typeface="Times New Roman"/>
              </a:rPr>
              <a:t> Professional surveys report that 70% of screen users experience DES symptoms (dry/irritated eyes, headaches, blurred vision)</a:t>
            </a:r>
          </a:p>
        </p:txBody>
      </p:sp>
      <p:sp>
        <p:nvSpPr>
          <p:cNvPr name="TextBox 11" id="11"/>
          <p:cNvSpPr txBox="true"/>
          <p:nvPr/>
        </p:nvSpPr>
        <p:spPr>
          <a:xfrm rot="0">
            <a:off x="1182457" y="6713943"/>
            <a:ext cx="15916245" cy="2806292"/>
          </a:xfrm>
          <a:prstGeom prst="rect">
            <a:avLst/>
          </a:prstGeom>
        </p:spPr>
        <p:txBody>
          <a:bodyPr anchor="t" rtlCol="false" tIns="0" lIns="0" bIns="0" rIns="0">
            <a:spAutoFit/>
          </a:bodyPr>
          <a:lstStyle/>
          <a:p>
            <a:pPr algn="l" marL="842472" indent="-280824" lvl="2">
              <a:lnSpc>
                <a:spcPts val="5564"/>
              </a:lnSpc>
              <a:spcBef>
                <a:spcPct val="0"/>
              </a:spcBef>
              <a:buFont typeface="Arial"/>
              <a:buChar char="⚬"/>
            </a:pPr>
            <a:r>
              <a:rPr lang="en-US" b="true" sz="3684" spc="-132" strike="noStrike" u="sng">
                <a:solidFill>
                  <a:srgbClr val="FFFFFF"/>
                </a:solidFill>
                <a:latin typeface="Times New Roman Bold"/>
                <a:ea typeface="Times New Roman Bold"/>
                <a:cs typeface="Times New Roman Bold"/>
                <a:sym typeface="Times New Roman Bold"/>
              </a:rPr>
              <a:t>Why this problem is important:</a:t>
            </a:r>
            <a:r>
              <a:rPr lang="en-US" sz="3684" spc="-132" strike="noStrike">
                <a:solidFill>
                  <a:srgbClr val="FFFFFF"/>
                </a:solidFill>
                <a:latin typeface="Times New Roman"/>
                <a:ea typeface="Times New Roman"/>
                <a:cs typeface="Times New Roman"/>
                <a:sym typeface="Times New Roman"/>
              </a:rPr>
              <a:t>  Under prolonged focus the blink rate plummets from ~15–20 blinks/minute to 5–7 blinks/minute, causing tear-film evaporation and irritation. In practice, even simple advice like the 20‑20‑20 rule (look 20ft away every 20 min) is neglected under tight deadlines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454354" cy="10380574"/>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71" r="0" b="-9271"/>
              </a:stretch>
            </a:blipFill>
          </p:spPr>
        </p:sp>
      </p:grpSp>
      <p:sp>
        <p:nvSpPr>
          <p:cNvPr name="TextBox 4" id="4"/>
          <p:cNvSpPr txBox="true"/>
          <p:nvPr/>
        </p:nvSpPr>
        <p:spPr>
          <a:xfrm rot="0">
            <a:off x="3814881" y="621344"/>
            <a:ext cx="10658238" cy="882625"/>
          </a:xfrm>
          <a:prstGeom prst="rect">
            <a:avLst/>
          </a:prstGeom>
        </p:spPr>
        <p:txBody>
          <a:bodyPr anchor="t" rtlCol="false" tIns="0" lIns="0" bIns="0" rIns="0">
            <a:spAutoFit/>
          </a:bodyPr>
          <a:lstStyle/>
          <a:p>
            <a:pPr algn="ctr">
              <a:lnSpc>
                <a:spcPts val="6998"/>
              </a:lnSpc>
            </a:pPr>
            <a:r>
              <a:rPr lang="en-US" b="true" sz="4999" spc="-399">
                <a:solidFill>
                  <a:srgbClr val="FFFFFF"/>
                </a:solidFill>
                <a:latin typeface="Times New Roman Bold"/>
                <a:ea typeface="Times New Roman Bold"/>
                <a:cs typeface="Times New Roman Bold"/>
                <a:sym typeface="Times New Roman Bold"/>
              </a:rPr>
              <a:t>EXISTING  SOLUTIONS  AND  GAPS</a:t>
            </a:r>
          </a:p>
        </p:txBody>
      </p:sp>
      <p:sp>
        <p:nvSpPr>
          <p:cNvPr name="TextBox 5" id="5"/>
          <p:cNvSpPr txBox="true"/>
          <p:nvPr/>
        </p:nvSpPr>
        <p:spPr>
          <a:xfrm rot="0">
            <a:off x="1118141" y="1894908"/>
            <a:ext cx="16230600" cy="1763879"/>
          </a:xfrm>
          <a:prstGeom prst="rect">
            <a:avLst/>
          </a:prstGeom>
        </p:spPr>
        <p:txBody>
          <a:bodyPr anchor="t" rtlCol="false" tIns="0" lIns="0" bIns="0" rIns="0">
            <a:spAutoFit/>
          </a:bodyPr>
          <a:lstStyle/>
          <a:p>
            <a:pPr algn="l" marL="708535" indent="-236178" lvl="2">
              <a:lnSpc>
                <a:spcPts val="4679"/>
              </a:lnSpc>
              <a:spcBef>
                <a:spcPct val="0"/>
              </a:spcBef>
              <a:buFont typeface="Arial"/>
              <a:buChar char="⚬"/>
            </a:pPr>
            <a:r>
              <a:rPr lang="en-US" b="true" sz="3099" spc="-111" strike="noStrike" u="sng">
                <a:solidFill>
                  <a:srgbClr val="FFFFFF"/>
                </a:solidFill>
                <a:latin typeface="Times New Roman Bold"/>
                <a:ea typeface="Times New Roman Bold"/>
                <a:cs typeface="Times New Roman Bold"/>
                <a:sym typeface="Times New Roman Bold"/>
              </a:rPr>
              <a:t>List of existing Solutions  :</a:t>
            </a:r>
            <a:r>
              <a:rPr lang="en-US" sz="3099" spc="-111" strike="noStrike">
                <a:solidFill>
                  <a:srgbClr val="FFFFFF"/>
                </a:solidFill>
                <a:latin typeface="Times New Roman"/>
                <a:ea typeface="Times New Roman"/>
                <a:cs typeface="Times New Roman"/>
                <a:sym typeface="Times New Roman"/>
              </a:rPr>
              <a:t>  Current solutions include native device focus modes, Pomodoro-based productivity timers, and basic applications that remind users to follow the 20-20-20 rule. These tools aim to reduce screen fatigue by encouraging periodic breaks.</a:t>
            </a:r>
          </a:p>
        </p:txBody>
      </p:sp>
      <p:sp>
        <p:nvSpPr>
          <p:cNvPr name="TextBox 6" id="6"/>
          <p:cNvSpPr txBox="true"/>
          <p:nvPr/>
        </p:nvSpPr>
        <p:spPr>
          <a:xfrm rot="0">
            <a:off x="910716" y="4082446"/>
            <a:ext cx="16645450" cy="2354429"/>
          </a:xfrm>
          <a:prstGeom prst="rect">
            <a:avLst/>
          </a:prstGeom>
        </p:spPr>
        <p:txBody>
          <a:bodyPr anchor="t" rtlCol="false" tIns="0" lIns="0" bIns="0" rIns="0">
            <a:spAutoFit/>
          </a:bodyPr>
          <a:lstStyle/>
          <a:p>
            <a:pPr algn="l" marL="708535" indent="-236178" lvl="2">
              <a:lnSpc>
                <a:spcPts val="4679"/>
              </a:lnSpc>
              <a:spcBef>
                <a:spcPct val="0"/>
              </a:spcBef>
              <a:buFont typeface="Arial"/>
              <a:buChar char="⚬"/>
            </a:pPr>
            <a:r>
              <a:rPr lang="en-US" b="true" sz="3099" spc="-111" strike="noStrike" u="sng">
                <a:solidFill>
                  <a:srgbClr val="FFFFFF"/>
                </a:solidFill>
                <a:latin typeface="Times New Roman Bold"/>
                <a:ea typeface="Times New Roman Bold"/>
                <a:cs typeface="Times New Roman Bold"/>
                <a:sym typeface="Times New Roman Bold"/>
              </a:rPr>
              <a:t>Mention their Limitations :</a:t>
            </a:r>
            <a:r>
              <a:rPr lang="en-US" sz="3099" spc="-111" strike="noStrike">
                <a:solidFill>
                  <a:srgbClr val="FFFFFF"/>
                </a:solidFill>
                <a:latin typeface="Times New Roman"/>
                <a:ea typeface="Times New Roman"/>
                <a:cs typeface="Times New Roman"/>
                <a:sym typeface="Times New Roman"/>
              </a:rPr>
              <a:t> Most existing solutions rely on fixed time intervals and do not adapt to the user’s actual condition or level of fatigue. They lack personalization and fail to consider physiological indicators such as blink rate or viewing distance. Additionally, these tools are often passive and easy to ignore, reducing their effectiveness over time.</a:t>
            </a:r>
          </a:p>
        </p:txBody>
      </p:sp>
      <p:sp>
        <p:nvSpPr>
          <p:cNvPr name="TextBox 7" id="7"/>
          <p:cNvSpPr txBox="true"/>
          <p:nvPr/>
        </p:nvSpPr>
        <p:spPr>
          <a:xfrm rot="0">
            <a:off x="245135" y="7048596"/>
            <a:ext cx="16659698" cy="2945011"/>
          </a:xfrm>
          <a:prstGeom prst="rect">
            <a:avLst/>
          </a:prstGeom>
        </p:spPr>
        <p:txBody>
          <a:bodyPr anchor="t" rtlCol="false" tIns="0" lIns="0" bIns="0" rIns="0">
            <a:spAutoFit/>
          </a:bodyPr>
          <a:lstStyle/>
          <a:p>
            <a:pPr algn="l" marL="1338151" indent="-446050" lvl="2">
              <a:lnSpc>
                <a:spcPts val="4679"/>
              </a:lnSpc>
              <a:buFont typeface="Arial"/>
              <a:buChar char="⚬"/>
            </a:pPr>
            <a:r>
              <a:rPr lang="en-US" b="true" sz="3099" spc="-108" strike="noStrike" u="sng">
                <a:solidFill>
                  <a:srgbClr val="FFFFFF"/>
                </a:solidFill>
                <a:latin typeface="Times New Roman Bold"/>
                <a:ea typeface="Times New Roman Bold"/>
                <a:cs typeface="Times New Roman Bold"/>
                <a:sym typeface="Times New Roman Bold"/>
              </a:rPr>
              <a:t>Explain the gap your project will address :</a:t>
            </a:r>
            <a:r>
              <a:rPr lang="en-US" sz="3099" spc="-108" strike="noStrike">
                <a:solidFill>
                  <a:srgbClr val="FFFFFF"/>
                </a:solidFill>
                <a:latin typeface="Times New Roman"/>
                <a:ea typeface="Times New Roman"/>
                <a:cs typeface="Times New Roman"/>
                <a:sym typeface="Times New Roman"/>
              </a:rPr>
              <a:t> There is a clear gap between passive reminder systems and intelligent health monitoring. Our approach focuses on bridging this gap by incorporating real-time tracking of user behavior and physiological indicators, combined with interactive and guided eye exercises. This ensures a more engaging, adaptive, and effective solution for preventing digital eye strain.</a:t>
            </a:r>
          </a:p>
          <a:p>
            <a:pPr algn="l">
              <a:lnSpc>
                <a:spcPts val="4679"/>
              </a:lnSpc>
            </a:pPr>
          </a:p>
        </p:txBody>
      </p:sp>
      <p:sp>
        <p:nvSpPr>
          <p:cNvPr name="Freeform 8" id="8"/>
          <p:cNvSpPr/>
          <p:nvPr/>
        </p:nvSpPr>
        <p:spPr>
          <a:xfrm flipH="false" flipV="false" rot="0">
            <a:off x="1221877" y="1503969"/>
            <a:ext cx="16230600" cy="302552"/>
          </a:xfrm>
          <a:custGeom>
            <a:avLst/>
            <a:gdLst/>
            <a:ahLst/>
            <a:cxnLst/>
            <a:rect r="r" b="b" t="t" l="l"/>
            <a:pathLst>
              <a:path h="302552" w="16230600">
                <a:moveTo>
                  <a:pt x="0" y="0"/>
                </a:moveTo>
                <a:lnTo>
                  <a:pt x="16230600" y="0"/>
                </a:lnTo>
                <a:lnTo>
                  <a:pt x="16230600" y="302552"/>
                </a:lnTo>
                <a:lnTo>
                  <a:pt x="0" y="3025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633298" y="575310"/>
            <a:ext cx="2131571" cy="1004830"/>
            <a:chOff x="0" y="0"/>
            <a:chExt cx="2842095" cy="1339774"/>
          </a:xfrm>
        </p:grpSpPr>
        <p:sp>
          <p:nvSpPr>
            <p:cNvPr name="Freeform 10" id="10"/>
            <p:cNvSpPr/>
            <p:nvPr/>
          </p:nvSpPr>
          <p:spPr>
            <a:xfrm flipH="false" flipV="false" rot="0">
              <a:off x="0" y="0"/>
              <a:ext cx="2842133" cy="1339723"/>
            </a:xfrm>
            <a:custGeom>
              <a:avLst/>
              <a:gdLst/>
              <a:ahLst/>
              <a:cxnLst/>
              <a:rect r="r" b="b" t="t" l="l"/>
              <a:pathLst>
                <a:path h="1339723" w="2842133">
                  <a:moveTo>
                    <a:pt x="0" y="0"/>
                  </a:moveTo>
                  <a:lnTo>
                    <a:pt x="2842133" y="0"/>
                  </a:lnTo>
                  <a:lnTo>
                    <a:pt x="2842133" y="1339723"/>
                  </a:lnTo>
                  <a:lnTo>
                    <a:pt x="0" y="1339723"/>
                  </a:lnTo>
                  <a:lnTo>
                    <a:pt x="0" y="0"/>
                  </a:lnTo>
                  <a:close/>
                </a:path>
              </a:pathLst>
            </a:custGeom>
            <a:blipFill>
              <a:blip r:embed="rId5"/>
              <a:stretch>
                <a:fillRect l="-86" t="0" r="-85" b="-3"/>
              </a:stretch>
            </a:blipFill>
          </p:spPr>
        </p:sp>
      </p:grpSp>
      <p:grpSp>
        <p:nvGrpSpPr>
          <p:cNvPr name="Group 11" id="11"/>
          <p:cNvGrpSpPr/>
          <p:nvPr/>
        </p:nvGrpSpPr>
        <p:grpSpPr>
          <a:xfrm rot="0">
            <a:off x="15978664" y="-269129"/>
            <a:ext cx="2475690" cy="2475690"/>
            <a:chOff x="0" y="0"/>
            <a:chExt cx="3300921" cy="3300921"/>
          </a:xfrm>
        </p:grpSpPr>
        <p:sp>
          <p:nvSpPr>
            <p:cNvPr name="Freeform 12" id="12"/>
            <p:cNvSpPr/>
            <p:nvPr/>
          </p:nvSpPr>
          <p:spPr>
            <a:xfrm flipH="false" flipV="false" rot="0">
              <a:off x="0" y="0"/>
              <a:ext cx="3300984" cy="3300984"/>
            </a:xfrm>
            <a:custGeom>
              <a:avLst/>
              <a:gdLst/>
              <a:ahLst/>
              <a:cxnLst/>
              <a:rect r="r" b="b" t="t" l="l"/>
              <a:pathLst>
                <a:path h="3300984" w="3300984">
                  <a:moveTo>
                    <a:pt x="0" y="0"/>
                  </a:moveTo>
                  <a:lnTo>
                    <a:pt x="3300984" y="0"/>
                  </a:lnTo>
                  <a:lnTo>
                    <a:pt x="3300984" y="3300984"/>
                  </a:lnTo>
                  <a:lnTo>
                    <a:pt x="0" y="3300984"/>
                  </a:lnTo>
                  <a:lnTo>
                    <a:pt x="0" y="0"/>
                  </a:lnTo>
                  <a:close/>
                </a:path>
              </a:pathLst>
            </a:custGeom>
            <a:blipFill>
              <a:blip r:embed="rId6"/>
              <a:stretch>
                <a:fillRect l="0" t="0" r="1" b="1"/>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454354" cy="10380574"/>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71" r="0" b="-9271"/>
              </a:stretch>
            </a:blipFill>
          </p:spPr>
        </p:sp>
      </p:grpSp>
      <p:sp>
        <p:nvSpPr>
          <p:cNvPr name="TextBox 4" id="4"/>
          <p:cNvSpPr txBox="true"/>
          <p:nvPr/>
        </p:nvSpPr>
        <p:spPr>
          <a:xfrm rot="0">
            <a:off x="4821382" y="96029"/>
            <a:ext cx="7382765" cy="1839568"/>
          </a:xfrm>
          <a:prstGeom prst="rect">
            <a:avLst/>
          </a:prstGeom>
        </p:spPr>
        <p:txBody>
          <a:bodyPr anchor="t" rtlCol="false" tIns="0" lIns="0" bIns="0" rIns="0">
            <a:spAutoFit/>
          </a:bodyPr>
          <a:lstStyle/>
          <a:p>
            <a:pPr algn="ctr">
              <a:lnSpc>
                <a:spcPts val="7279"/>
              </a:lnSpc>
            </a:pPr>
            <a:r>
              <a:rPr lang="en-US" b="true" sz="5198" spc="-414">
                <a:solidFill>
                  <a:srgbClr val="FFFFFF"/>
                </a:solidFill>
                <a:latin typeface="Times New Roman Bold"/>
                <a:ea typeface="Times New Roman Bold"/>
                <a:cs typeface="Times New Roman Bold"/>
                <a:sym typeface="Times New Roman Bold"/>
              </a:rPr>
              <a:t>PROPOSED  SOLUTION : Drishti  </a:t>
            </a:r>
          </a:p>
        </p:txBody>
      </p:sp>
      <p:sp>
        <p:nvSpPr>
          <p:cNvPr name="TextBox 5" id="5"/>
          <p:cNvSpPr txBox="true"/>
          <p:nvPr/>
        </p:nvSpPr>
        <p:spPr>
          <a:xfrm rot="0">
            <a:off x="750548" y="2171091"/>
            <a:ext cx="16508752" cy="2436215"/>
          </a:xfrm>
          <a:prstGeom prst="rect">
            <a:avLst/>
          </a:prstGeom>
        </p:spPr>
        <p:txBody>
          <a:bodyPr anchor="t" rtlCol="false" tIns="0" lIns="0" bIns="0" rIns="0">
            <a:spAutoFit/>
          </a:bodyPr>
          <a:lstStyle/>
          <a:p>
            <a:pPr algn="l" marL="731398" indent="-243799" lvl="2">
              <a:lnSpc>
                <a:spcPts val="4831"/>
              </a:lnSpc>
              <a:spcBef>
                <a:spcPct val="0"/>
              </a:spcBef>
              <a:buFont typeface="Arial"/>
              <a:buChar char="⚬"/>
            </a:pPr>
            <a:r>
              <a:rPr lang="en-US" b="true" sz="3199" spc="-115" strike="noStrike" u="sng">
                <a:solidFill>
                  <a:srgbClr val="FFFFFF"/>
                </a:solidFill>
                <a:latin typeface="Times New Roman Bold"/>
                <a:ea typeface="Times New Roman Bold"/>
                <a:cs typeface="Times New Roman Bold"/>
                <a:sym typeface="Times New Roman Bold"/>
              </a:rPr>
              <a:t>Explain your solution clearly:</a:t>
            </a:r>
            <a:r>
              <a:rPr lang="en-US" sz="3199" spc="-115" strike="noStrike">
                <a:solidFill>
                  <a:srgbClr val="FFFFFF"/>
                </a:solidFill>
                <a:latin typeface="Times New Roman"/>
                <a:ea typeface="Times New Roman"/>
                <a:cs typeface="Times New Roman"/>
                <a:sym typeface="Times New Roman"/>
              </a:rPr>
              <a:t> Drishti is an intelligent web-based application designed to monitor screen usage and detect early signs of eye fatigue in real time. Unlike traditional reminder systems, it uses webcam-based tracking and behavioral analysis to understand user strain levels and proactively guide users to follow the 20-20-20 rule through interactive and engaging interventions.</a:t>
            </a:r>
          </a:p>
        </p:txBody>
      </p:sp>
      <p:sp>
        <p:nvSpPr>
          <p:cNvPr name="TextBox 6" id="6"/>
          <p:cNvSpPr txBox="true"/>
          <p:nvPr/>
        </p:nvSpPr>
        <p:spPr>
          <a:xfrm rot="0">
            <a:off x="707756" y="5016882"/>
            <a:ext cx="16508752" cy="2436215"/>
          </a:xfrm>
          <a:prstGeom prst="rect">
            <a:avLst/>
          </a:prstGeom>
        </p:spPr>
        <p:txBody>
          <a:bodyPr anchor="t" rtlCol="false" tIns="0" lIns="0" bIns="0" rIns="0">
            <a:spAutoFit/>
          </a:bodyPr>
          <a:lstStyle/>
          <a:p>
            <a:pPr algn="l" marL="731398" indent="-243799" lvl="2">
              <a:lnSpc>
                <a:spcPts val="4831"/>
              </a:lnSpc>
              <a:spcBef>
                <a:spcPct val="0"/>
              </a:spcBef>
              <a:buFont typeface="Arial"/>
              <a:buChar char="⚬"/>
            </a:pPr>
            <a:r>
              <a:rPr lang="en-US" b="true" sz="3199" spc="-115" strike="noStrike" u="sng">
                <a:solidFill>
                  <a:srgbClr val="FFFFFF"/>
                </a:solidFill>
                <a:latin typeface="Times New Roman Bold"/>
                <a:ea typeface="Times New Roman Bold"/>
                <a:cs typeface="Times New Roman Bold"/>
                <a:sym typeface="Times New Roman Bold"/>
              </a:rPr>
              <a:t>List key features:</a:t>
            </a:r>
            <a:r>
              <a:rPr lang="en-US" sz="3199" spc="-115" strike="noStrike">
                <a:solidFill>
                  <a:srgbClr val="FFFFFF"/>
                </a:solidFill>
                <a:latin typeface="Times New Roman"/>
                <a:ea typeface="Times New Roman"/>
                <a:cs typeface="Times New Roman"/>
                <a:sym typeface="Times New Roman"/>
              </a:rPr>
              <a:t> Drishti features real-time webcam tracking of blink rate and screen distance to detect eye strain. It provides smart 20-20-20 rule reminders and guided eye exercise animations. The app also includes daily screen-time graphs and personalized weekly eye health tips. All features adapt to user behavior for timely and effective intervention.</a:t>
            </a:r>
          </a:p>
        </p:txBody>
      </p:sp>
      <p:sp>
        <p:nvSpPr>
          <p:cNvPr name="TextBox 7" id="7"/>
          <p:cNvSpPr txBox="true"/>
          <p:nvPr/>
        </p:nvSpPr>
        <p:spPr>
          <a:xfrm rot="0">
            <a:off x="707756" y="7862672"/>
            <a:ext cx="16974730" cy="1217015"/>
          </a:xfrm>
          <a:prstGeom prst="rect">
            <a:avLst/>
          </a:prstGeom>
        </p:spPr>
        <p:txBody>
          <a:bodyPr anchor="t" rtlCol="false" tIns="0" lIns="0" bIns="0" rIns="0">
            <a:spAutoFit/>
          </a:bodyPr>
          <a:lstStyle/>
          <a:p>
            <a:pPr algn="l" marL="731398" indent="-243799" lvl="2">
              <a:lnSpc>
                <a:spcPts val="4831"/>
              </a:lnSpc>
              <a:spcBef>
                <a:spcPct val="0"/>
              </a:spcBef>
              <a:buFont typeface="Arial"/>
              <a:buChar char="⚬"/>
            </a:pPr>
            <a:r>
              <a:rPr lang="en-US" b="true" sz="3199" spc="-115" strike="noStrike" u="sng">
                <a:solidFill>
                  <a:srgbClr val="FFFFFF"/>
                </a:solidFill>
                <a:latin typeface="Times New Roman Bold"/>
                <a:ea typeface="Times New Roman Bold"/>
                <a:cs typeface="Times New Roman Bold"/>
                <a:sym typeface="Times New Roman Bold"/>
              </a:rPr>
              <a:t>Explain how it solves the problem:</a:t>
            </a:r>
            <a:r>
              <a:rPr lang="en-US" sz="3199" spc="-115" strike="noStrike">
                <a:solidFill>
                  <a:srgbClr val="FFFFFF"/>
                </a:solidFill>
                <a:latin typeface="Times New Roman"/>
                <a:ea typeface="Times New Roman"/>
                <a:cs typeface="Times New Roman"/>
                <a:sym typeface="Times New Roman"/>
              </a:rPr>
              <a:t> By intervening at precise times based on eye strain signs and guiding the user through an exercise, it ends the cycle of constant visual strain before the signs and symptoms appear.</a:t>
            </a:r>
          </a:p>
        </p:txBody>
      </p:sp>
      <p:sp>
        <p:nvSpPr>
          <p:cNvPr name="Freeform 8" id="8"/>
          <p:cNvSpPr/>
          <p:nvPr/>
        </p:nvSpPr>
        <p:spPr>
          <a:xfrm flipH="false" flipV="false" rot="0">
            <a:off x="1028700" y="1460497"/>
            <a:ext cx="16230600" cy="302552"/>
          </a:xfrm>
          <a:custGeom>
            <a:avLst/>
            <a:gdLst/>
            <a:ahLst/>
            <a:cxnLst/>
            <a:rect r="r" b="b" t="t" l="l"/>
            <a:pathLst>
              <a:path h="302552" w="16230600">
                <a:moveTo>
                  <a:pt x="0" y="0"/>
                </a:moveTo>
                <a:lnTo>
                  <a:pt x="16230600" y="0"/>
                </a:lnTo>
                <a:lnTo>
                  <a:pt x="16230600" y="302552"/>
                </a:lnTo>
                <a:lnTo>
                  <a:pt x="0" y="3025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633298" y="575310"/>
            <a:ext cx="2131571" cy="1004830"/>
            <a:chOff x="0" y="0"/>
            <a:chExt cx="2842095" cy="1339774"/>
          </a:xfrm>
        </p:grpSpPr>
        <p:sp>
          <p:nvSpPr>
            <p:cNvPr name="Freeform 10" id="10"/>
            <p:cNvSpPr/>
            <p:nvPr/>
          </p:nvSpPr>
          <p:spPr>
            <a:xfrm flipH="false" flipV="false" rot="0">
              <a:off x="0" y="0"/>
              <a:ext cx="2842133" cy="1339723"/>
            </a:xfrm>
            <a:custGeom>
              <a:avLst/>
              <a:gdLst/>
              <a:ahLst/>
              <a:cxnLst/>
              <a:rect r="r" b="b" t="t" l="l"/>
              <a:pathLst>
                <a:path h="1339723" w="2842133">
                  <a:moveTo>
                    <a:pt x="0" y="0"/>
                  </a:moveTo>
                  <a:lnTo>
                    <a:pt x="2842133" y="0"/>
                  </a:lnTo>
                  <a:lnTo>
                    <a:pt x="2842133" y="1339723"/>
                  </a:lnTo>
                  <a:lnTo>
                    <a:pt x="0" y="1339723"/>
                  </a:lnTo>
                  <a:lnTo>
                    <a:pt x="0" y="0"/>
                  </a:lnTo>
                  <a:close/>
                </a:path>
              </a:pathLst>
            </a:custGeom>
            <a:blipFill>
              <a:blip r:embed="rId5"/>
              <a:stretch>
                <a:fillRect l="-86" t="0" r="-85" b="-3"/>
              </a:stretch>
            </a:blipFill>
          </p:spPr>
        </p:sp>
      </p:grpSp>
      <p:grpSp>
        <p:nvGrpSpPr>
          <p:cNvPr name="Group 11" id="11"/>
          <p:cNvGrpSpPr/>
          <p:nvPr/>
        </p:nvGrpSpPr>
        <p:grpSpPr>
          <a:xfrm rot="0">
            <a:off x="15978664" y="-269129"/>
            <a:ext cx="2475690" cy="2475690"/>
            <a:chOff x="0" y="0"/>
            <a:chExt cx="3300921" cy="3300921"/>
          </a:xfrm>
        </p:grpSpPr>
        <p:sp>
          <p:nvSpPr>
            <p:cNvPr name="Freeform 12" id="12"/>
            <p:cNvSpPr/>
            <p:nvPr/>
          </p:nvSpPr>
          <p:spPr>
            <a:xfrm flipH="false" flipV="false" rot="0">
              <a:off x="0" y="0"/>
              <a:ext cx="3300984" cy="3300984"/>
            </a:xfrm>
            <a:custGeom>
              <a:avLst/>
              <a:gdLst/>
              <a:ahLst/>
              <a:cxnLst/>
              <a:rect r="r" b="b" t="t" l="l"/>
              <a:pathLst>
                <a:path h="3300984" w="3300984">
                  <a:moveTo>
                    <a:pt x="0" y="0"/>
                  </a:moveTo>
                  <a:lnTo>
                    <a:pt x="3300984" y="0"/>
                  </a:lnTo>
                  <a:lnTo>
                    <a:pt x="3300984" y="3300984"/>
                  </a:lnTo>
                  <a:lnTo>
                    <a:pt x="0" y="3300984"/>
                  </a:lnTo>
                  <a:lnTo>
                    <a:pt x="0" y="0"/>
                  </a:lnTo>
                  <a:close/>
                </a:path>
              </a:pathLst>
            </a:custGeom>
            <a:blipFill>
              <a:blip r:embed="rId6"/>
              <a:stretch>
                <a:fillRect l="0" t="0" r="1" b="1"/>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454354" cy="10380574"/>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71" r="0" b="-9271"/>
              </a:stretch>
            </a:blipFill>
          </p:spPr>
        </p:sp>
      </p:grpSp>
      <p:sp>
        <p:nvSpPr>
          <p:cNvPr name="TextBox 4" id="4"/>
          <p:cNvSpPr txBox="true"/>
          <p:nvPr/>
        </p:nvSpPr>
        <p:spPr>
          <a:xfrm rot="0">
            <a:off x="5196091" y="697516"/>
            <a:ext cx="7895818" cy="882625"/>
          </a:xfrm>
          <a:prstGeom prst="rect">
            <a:avLst/>
          </a:prstGeom>
        </p:spPr>
        <p:txBody>
          <a:bodyPr anchor="t" rtlCol="false" tIns="0" lIns="0" bIns="0" rIns="0">
            <a:spAutoFit/>
          </a:bodyPr>
          <a:lstStyle/>
          <a:p>
            <a:pPr algn="ctr">
              <a:lnSpc>
                <a:spcPts val="6998"/>
              </a:lnSpc>
            </a:pPr>
            <a:r>
              <a:rPr lang="en-US" b="true" sz="4999" spc="-399">
                <a:solidFill>
                  <a:srgbClr val="FFFFFF"/>
                </a:solidFill>
                <a:latin typeface="Times New Roman Bold"/>
                <a:ea typeface="Times New Roman Bold"/>
                <a:cs typeface="Times New Roman Bold"/>
                <a:sym typeface="Times New Roman Bold"/>
              </a:rPr>
              <a:t> SYSTEM ARCHITECTURE</a:t>
            </a:r>
          </a:p>
        </p:txBody>
      </p:sp>
      <p:sp>
        <p:nvSpPr>
          <p:cNvPr name="Freeform 5" id="5"/>
          <p:cNvSpPr/>
          <p:nvPr/>
        </p:nvSpPr>
        <p:spPr>
          <a:xfrm flipH="false" flipV="false" rot="0">
            <a:off x="1176633" y="1396632"/>
            <a:ext cx="16230600" cy="302552"/>
          </a:xfrm>
          <a:custGeom>
            <a:avLst/>
            <a:gdLst/>
            <a:ahLst/>
            <a:cxnLst/>
            <a:rect r="r" b="b" t="t" l="l"/>
            <a:pathLst>
              <a:path h="302552" w="16230600">
                <a:moveTo>
                  <a:pt x="0" y="0"/>
                </a:moveTo>
                <a:lnTo>
                  <a:pt x="16230600" y="0"/>
                </a:lnTo>
                <a:lnTo>
                  <a:pt x="16230600" y="302552"/>
                </a:lnTo>
                <a:lnTo>
                  <a:pt x="0" y="3025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633298" y="575310"/>
            <a:ext cx="2131571" cy="1004830"/>
            <a:chOff x="0" y="0"/>
            <a:chExt cx="2842095" cy="1339774"/>
          </a:xfrm>
        </p:grpSpPr>
        <p:sp>
          <p:nvSpPr>
            <p:cNvPr name="Freeform 7" id="7"/>
            <p:cNvSpPr/>
            <p:nvPr/>
          </p:nvSpPr>
          <p:spPr>
            <a:xfrm flipH="false" flipV="false" rot="0">
              <a:off x="0" y="0"/>
              <a:ext cx="2842133" cy="1339723"/>
            </a:xfrm>
            <a:custGeom>
              <a:avLst/>
              <a:gdLst/>
              <a:ahLst/>
              <a:cxnLst/>
              <a:rect r="r" b="b" t="t" l="l"/>
              <a:pathLst>
                <a:path h="1339723" w="2842133">
                  <a:moveTo>
                    <a:pt x="0" y="0"/>
                  </a:moveTo>
                  <a:lnTo>
                    <a:pt x="2842133" y="0"/>
                  </a:lnTo>
                  <a:lnTo>
                    <a:pt x="2842133" y="1339723"/>
                  </a:lnTo>
                  <a:lnTo>
                    <a:pt x="0" y="1339723"/>
                  </a:lnTo>
                  <a:lnTo>
                    <a:pt x="0" y="0"/>
                  </a:lnTo>
                  <a:close/>
                </a:path>
              </a:pathLst>
            </a:custGeom>
            <a:blipFill>
              <a:blip r:embed="rId5"/>
              <a:stretch>
                <a:fillRect l="-86" t="0" r="-85" b="-3"/>
              </a:stretch>
            </a:blipFill>
          </p:spPr>
        </p:sp>
      </p:grpSp>
      <p:grpSp>
        <p:nvGrpSpPr>
          <p:cNvPr name="Group 8" id="8"/>
          <p:cNvGrpSpPr/>
          <p:nvPr/>
        </p:nvGrpSpPr>
        <p:grpSpPr>
          <a:xfrm rot="0">
            <a:off x="15978664" y="-269129"/>
            <a:ext cx="2475690" cy="2475690"/>
            <a:chOff x="0" y="0"/>
            <a:chExt cx="3300921" cy="3300921"/>
          </a:xfrm>
        </p:grpSpPr>
        <p:sp>
          <p:nvSpPr>
            <p:cNvPr name="Freeform 9" id="9"/>
            <p:cNvSpPr/>
            <p:nvPr/>
          </p:nvSpPr>
          <p:spPr>
            <a:xfrm flipH="false" flipV="false" rot="0">
              <a:off x="0" y="0"/>
              <a:ext cx="3300984" cy="3300984"/>
            </a:xfrm>
            <a:custGeom>
              <a:avLst/>
              <a:gdLst/>
              <a:ahLst/>
              <a:cxnLst/>
              <a:rect r="r" b="b" t="t" l="l"/>
              <a:pathLst>
                <a:path h="3300984" w="3300984">
                  <a:moveTo>
                    <a:pt x="0" y="0"/>
                  </a:moveTo>
                  <a:lnTo>
                    <a:pt x="3300984" y="0"/>
                  </a:lnTo>
                  <a:lnTo>
                    <a:pt x="3300984" y="3300984"/>
                  </a:lnTo>
                  <a:lnTo>
                    <a:pt x="0" y="3300984"/>
                  </a:lnTo>
                  <a:lnTo>
                    <a:pt x="0" y="0"/>
                  </a:lnTo>
                  <a:close/>
                </a:path>
              </a:pathLst>
            </a:custGeom>
            <a:blipFill>
              <a:blip r:embed="rId6"/>
              <a:stretch>
                <a:fillRect l="0" t="0" r="1" b="1"/>
              </a:stretch>
            </a:blipFill>
          </p:spPr>
        </p:sp>
      </p:grpSp>
      <p:sp>
        <p:nvSpPr>
          <p:cNvPr name="Freeform 10" id="10"/>
          <p:cNvSpPr/>
          <p:nvPr/>
        </p:nvSpPr>
        <p:spPr>
          <a:xfrm flipH="false" flipV="false" rot="0">
            <a:off x="1000327" y="2397577"/>
            <a:ext cx="16583211" cy="7089323"/>
          </a:xfrm>
          <a:custGeom>
            <a:avLst/>
            <a:gdLst/>
            <a:ahLst/>
            <a:cxnLst/>
            <a:rect r="r" b="b" t="t" l="l"/>
            <a:pathLst>
              <a:path h="7089323" w="16583211">
                <a:moveTo>
                  <a:pt x="0" y="0"/>
                </a:moveTo>
                <a:lnTo>
                  <a:pt x="16583211" y="0"/>
                </a:lnTo>
                <a:lnTo>
                  <a:pt x="16583211" y="7089323"/>
                </a:lnTo>
                <a:lnTo>
                  <a:pt x="0" y="7089323"/>
                </a:lnTo>
                <a:lnTo>
                  <a:pt x="0" y="0"/>
                </a:lnTo>
                <a:close/>
              </a:path>
            </a:pathLst>
          </a:custGeom>
          <a:blipFill>
            <a:blip r:embed="rId7"/>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482929" cy="10396648"/>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71" r="0" b="-9271"/>
              </a:stretch>
            </a:blipFill>
          </p:spPr>
        </p:sp>
      </p:grpSp>
      <p:sp>
        <p:nvSpPr>
          <p:cNvPr name="Freeform 4" id="4"/>
          <p:cNvSpPr/>
          <p:nvPr/>
        </p:nvSpPr>
        <p:spPr>
          <a:xfrm flipH="false" flipV="false" rot="0">
            <a:off x="1287580" y="1396632"/>
            <a:ext cx="16230600" cy="302552"/>
          </a:xfrm>
          <a:custGeom>
            <a:avLst/>
            <a:gdLst/>
            <a:ahLst/>
            <a:cxnLst/>
            <a:rect r="r" b="b" t="t" l="l"/>
            <a:pathLst>
              <a:path h="302552" w="16230600">
                <a:moveTo>
                  <a:pt x="0" y="0"/>
                </a:moveTo>
                <a:lnTo>
                  <a:pt x="16230600" y="0"/>
                </a:lnTo>
                <a:lnTo>
                  <a:pt x="16230600" y="302552"/>
                </a:lnTo>
                <a:lnTo>
                  <a:pt x="0" y="3025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633298" y="575310"/>
            <a:ext cx="2131571" cy="1004830"/>
            <a:chOff x="0" y="0"/>
            <a:chExt cx="2842095" cy="1339774"/>
          </a:xfrm>
        </p:grpSpPr>
        <p:sp>
          <p:nvSpPr>
            <p:cNvPr name="Freeform 6" id="6"/>
            <p:cNvSpPr/>
            <p:nvPr/>
          </p:nvSpPr>
          <p:spPr>
            <a:xfrm flipH="false" flipV="false" rot="0">
              <a:off x="0" y="0"/>
              <a:ext cx="2842133" cy="1339723"/>
            </a:xfrm>
            <a:custGeom>
              <a:avLst/>
              <a:gdLst/>
              <a:ahLst/>
              <a:cxnLst/>
              <a:rect r="r" b="b" t="t" l="l"/>
              <a:pathLst>
                <a:path h="1339723" w="2842133">
                  <a:moveTo>
                    <a:pt x="0" y="0"/>
                  </a:moveTo>
                  <a:lnTo>
                    <a:pt x="2842133" y="0"/>
                  </a:lnTo>
                  <a:lnTo>
                    <a:pt x="2842133" y="1339723"/>
                  </a:lnTo>
                  <a:lnTo>
                    <a:pt x="0" y="1339723"/>
                  </a:lnTo>
                  <a:lnTo>
                    <a:pt x="0" y="0"/>
                  </a:lnTo>
                  <a:close/>
                </a:path>
              </a:pathLst>
            </a:custGeom>
            <a:blipFill>
              <a:blip r:embed="rId5"/>
              <a:stretch>
                <a:fillRect l="-86" t="0" r="-85" b="-3"/>
              </a:stretch>
            </a:blipFill>
          </p:spPr>
        </p:sp>
      </p:grpSp>
      <p:grpSp>
        <p:nvGrpSpPr>
          <p:cNvPr name="Group 7" id="7"/>
          <p:cNvGrpSpPr/>
          <p:nvPr/>
        </p:nvGrpSpPr>
        <p:grpSpPr>
          <a:xfrm rot="0">
            <a:off x="16007239" y="-269129"/>
            <a:ext cx="2475690" cy="2475690"/>
            <a:chOff x="0" y="0"/>
            <a:chExt cx="3300921" cy="3300921"/>
          </a:xfrm>
        </p:grpSpPr>
        <p:sp>
          <p:nvSpPr>
            <p:cNvPr name="Freeform 8" id="8"/>
            <p:cNvSpPr/>
            <p:nvPr/>
          </p:nvSpPr>
          <p:spPr>
            <a:xfrm flipH="false" flipV="false" rot="0">
              <a:off x="0" y="0"/>
              <a:ext cx="3300984" cy="3300984"/>
            </a:xfrm>
            <a:custGeom>
              <a:avLst/>
              <a:gdLst/>
              <a:ahLst/>
              <a:cxnLst/>
              <a:rect r="r" b="b" t="t" l="l"/>
              <a:pathLst>
                <a:path h="3300984" w="3300984">
                  <a:moveTo>
                    <a:pt x="0" y="0"/>
                  </a:moveTo>
                  <a:lnTo>
                    <a:pt x="3300984" y="0"/>
                  </a:lnTo>
                  <a:lnTo>
                    <a:pt x="3300984" y="3300984"/>
                  </a:lnTo>
                  <a:lnTo>
                    <a:pt x="0" y="3300984"/>
                  </a:lnTo>
                  <a:lnTo>
                    <a:pt x="0" y="0"/>
                  </a:lnTo>
                  <a:close/>
                </a:path>
              </a:pathLst>
            </a:custGeom>
            <a:blipFill>
              <a:blip r:embed="rId6"/>
              <a:stretch>
                <a:fillRect l="0" t="0" r="1" b="1"/>
              </a:stretch>
            </a:blipFill>
          </p:spPr>
        </p:sp>
      </p:grpSp>
      <p:sp>
        <p:nvSpPr>
          <p:cNvPr name="Freeform 9" id="9"/>
          <p:cNvSpPr/>
          <p:nvPr/>
        </p:nvSpPr>
        <p:spPr>
          <a:xfrm flipH="false" flipV="false" rot="0">
            <a:off x="1596960" y="2063686"/>
            <a:ext cx="15280369" cy="7522352"/>
          </a:xfrm>
          <a:custGeom>
            <a:avLst/>
            <a:gdLst/>
            <a:ahLst/>
            <a:cxnLst/>
            <a:rect r="r" b="b" t="t" l="l"/>
            <a:pathLst>
              <a:path h="7522352" w="15280369">
                <a:moveTo>
                  <a:pt x="0" y="0"/>
                </a:moveTo>
                <a:lnTo>
                  <a:pt x="15280369" y="0"/>
                </a:lnTo>
                <a:lnTo>
                  <a:pt x="15280369" y="7522352"/>
                </a:lnTo>
                <a:lnTo>
                  <a:pt x="0" y="7522352"/>
                </a:lnTo>
                <a:lnTo>
                  <a:pt x="0" y="0"/>
                </a:lnTo>
                <a:close/>
              </a:path>
            </a:pathLst>
          </a:custGeom>
          <a:blipFill>
            <a:blip r:embed="rId7"/>
            <a:stretch>
              <a:fillRect l="0" t="0" r="-1119" b="-12204"/>
            </a:stretch>
          </a:blipFill>
        </p:spPr>
      </p:sp>
      <p:sp>
        <p:nvSpPr>
          <p:cNvPr name="TextBox 10" id="10"/>
          <p:cNvSpPr txBox="true"/>
          <p:nvPr/>
        </p:nvSpPr>
        <p:spPr>
          <a:xfrm rot="0">
            <a:off x="3793255" y="692706"/>
            <a:ext cx="10896419" cy="1006478"/>
          </a:xfrm>
          <a:prstGeom prst="rect">
            <a:avLst/>
          </a:prstGeom>
        </p:spPr>
        <p:txBody>
          <a:bodyPr anchor="t" rtlCol="false" tIns="0" lIns="0" bIns="0" rIns="0">
            <a:spAutoFit/>
          </a:bodyPr>
          <a:lstStyle/>
          <a:p>
            <a:pPr algn="ctr">
              <a:lnSpc>
                <a:spcPts val="6998"/>
              </a:lnSpc>
            </a:pPr>
            <a:r>
              <a:rPr lang="en-US" b="true" sz="4999" spc="-399">
                <a:solidFill>
                  <a:srgbClr val="FFFFFF"/>
                </a:solidFill>
                <a:latin typeface="Times New Roman Bold"/>
                <a:ea typeface="Times New Roman Bold"/>
                <a:cs typeface="Times New Roman Bold"/>
                <a:sym typeface="Times New Roman Bold"/>
              </a:rPr>
              <a:t>FLOWCHART  /  WORKING PROCESS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454354" cy="10380574"/>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71" r="0" b="-9271"/>
              </a:stretch>
            </a:blipFill>
          </p:spPr>
        </p:sp>
      </p:grpSp>
      <p:sp>
        <p:nvSpPr>
          <p:cNvPr name="TextBox 4" id="4"/>
          <p:cNvSpPr txBox="true"/>
          <p:nvPr/>
        </p:nvSpPr>
        <p:spPr>
          <a:xfrm rot="0">
            <a:off x="6498095" y="673437"/>
            <a:ext cx="5291810" cy="882625"/>
          </a:xfrm>
          <a:prstGeom prst="rect">
            <a:avLst/>
          </a:prstGeom>
        </p:spPr>
        <p:txBody>
          <a:bodyPr anchor="t" rtlCol="false" tIns="0" lIns="0" bIns="0" rIns="0">
            <a:spAutoFit/>
          </a:bodyPr>
          <a:lstStyle/>
          <a:p>
            <a:pPr algn="ctr">
              <a:lnSpc>
                <a:spcPts val="6998"/>
              </a:lnSpc>
            </a:pPr>
            <a:r>
              <a:rPr lang="en-US" b="true" sz="4999" spc="-399">
                <a:solidFill>
                  <a:srgbClr val="FFFFFF"/>
                </a:solidFill>
                <a:latin typeface="Times New Roman Bold"/>
                <a:ea typeface="Times New Roman Bold"/>
                <a:cs typeface="Times New Roman Bold"/>
                <a:sym typeface="Times New Roman Bold"/>
              </a:rPr>
              <a:t>TECH  STACK</a:t>
            </a:r>
          </a:p>
        </p:txBody>
      </p:sp>
      <p:sp>
        <p:nvSpPr>
          <p:cNvPr name="TextBox 5" id="5"/>
          <p:cNvSpPr txBox="true"/>
          <p:nvPr/>
        </p:nvSpPr>
        <p:spPr>
          <a:xfrm rot="0">
            <a:off x="1125160" y="1989399"/>
            <a:ext cx="16134140" cy="1475193"/>
          </a:xfrm>
          <a:prstGeom prst="rect">
            <a:avLst/>
          </a:prstGeom>
        </p:spPr>
        <p:txBody>
          <a:bodyPr anchor="t" rtlCol="false" tIns="0" lIns="0" bIns="0" rIns="0">
            <a:spAutoFit/>
          </a:bodyPr>
          <a:lstStyle/>
          <a:p>
            <a:pPr algn="l" marL="891437" indent="-297146" lvl="2">
              <a:lnSpc>
                <a:spcPts val="5888"/>
              </a:lnSpc>
              <a:spcBef>
                <a:spcPct val="0"/>
              </a:spcBef>
              <a:buFont typeface="Arial"/>
              <a:buChar char="⚬"/>
            </a:pPr>
            <a:r>
              <a:rPr lang="en-US" b="true" sz="3898" spc="-140" strike="noStrike" u="sng">
                <a:solidFill>
                  <a:srgbClr val="FFFFFF"/>
                </a:solidFill>
                <a:latin typeface="Times New Roman Bold"/>
                <a:ea typeface="Times New Roman Bold"/>
                <a:cs typeface="Times New Roman Bold"/>
                <a:sym typeface="Times New Roman Bold"/>
              </a:rPr>
              <a:t>Frontend technologies:</a:t>
            </a:r>
            <a:r>
              <a:rPr lang="en-US" sz="3898" spc="-140" strike="noStrike">
                <a:solidFill>
                  <a:srgbClr val="FFFFFF"/>
                </a:solidFill>
                <a:latin typeface="Times New Roman"/>
                <a:ea typeface="Times New Roman"/>
                <a:cs typeface="Times New Roman"/>
                <a:sym typeface="Times New Roman"/>
              </a:rPr>
              <a:t> React.js (Component-based architecture allows for smooth UI updates without reloading the page during background tracking).</a:t>
            </a:r>
          </a:p>
        </p:txBody>
      </p:sp>
      <p:sp>
        <p:nvSpPr>
          <p:cNvPr name="TextBox 6" id="6"/>
          <p:cNvSpPr txBox="true"/>
          <p:nvPr/>
        </p:nvSpPr>
        <p:spPr>
          <a:xfrm rot="0">
            <a:off x="1028700" y="3798324"/>
            <a:ext cx="15871148" cy="1475193"/>
          </a:xfrm>
          <a:prstGeom prst="rect">
            <a:avLst/>
          </a:prstGeom>
        </p:spPr>
        <p:txBody>
          <a:bodyPr anchor="t" rtlCol="false" tIns="0" lIns="0" bIns="0" rIns="0">
            <a:spAutoFit/>
          </a:bodyPr>
          <a:lstStyle/>
          <a:p>
            <a:pPr algn="l" marL="891437" indent="-297146" lvl="2">
              <a:lnSpc>
                <a:spcPts val="5888"/>
              </a:lnSpc>
              <a:spcBef>
                <a:spcPct val="0"/>
              </a:spcBef>
              <a:buFont typeface="Arial"/>
              <a:buChar char="⚬"/>
            </a:pPr>
            <a:r>
              <a:rPr lang="en-US" b="true" sz="3898" spc="-140" strike="noStrike" u="sng">
                <a:solidFill>
                  <a:srgbClr val="FFFFFF"/>
                </a:solidFill>
                <a:latin typeface="Times New Roman Bold"/>
                <a:ea typeface="Times New Roman Bold"/>
                <a:cs typeface="Times New Roman Bold"/>
                <a:sym typeface="Times New Roman Bold"/>
              </a:rPr>
              <a:t>Backend technologies:</a:t>
            </a:r>
            <a:r>
              <a:rPr lang="en-US" sz="3898" spc="-140" strike="noStrike">
                <a:solidFill>
                  <a:srgbClr val="FFFFFF"/>
                </a:solidFill>
                <a:latin typeface="Times New Roman"/>
                <a:ea typeface="Times New Roman"/>
                <a:cs typeface="Times New Roman"/>
                <a:sym typeface="Times New Roman"/>
              </a:rPr>
              <a:t>  Python with FastAPI or Flask (Lightweight, incredibly fast, and excellent if you decide to move any data analysis to the server later).</a:t>
            </a:r>
          </a:p>
        </p:txBody>
      </p:sp>
      <p:sp>
        <p:nvSpPr>
          <p:cNvPr name="TextBox 7" id="7"/>
          <p:cNvSpPr txBox="true"/>
          <p:nvPr/>
        </p:nvSpPr>
        <p:spPr>
          <a:xfrm rot="0">
            <a:off x="1028700" y="5606891"/>
            <a:ext cx="16134140" cy="1475193"/>
          </a:xfrm>
          <a:prstGeom prst="rect">
            <a:avLst/>
          </a:prstGeom>
        </p:spPr>
        <p:txBody>
          <a:bodyPr anchor="t" rtlCol="false" tIns="0" lIns="0" bIns="0" rIns="0">
            <a:spAutoFit/>
          </a:bodyPr>
          <a:lstStyle/>
          <a:p>
            <a:pPr algn="l" marL="891437" indent="-297146" lvl="2">
              <a:lnSpc>
                <a:spcPts val="5888"/>
              </a:lnSpc>
              <a:spcBef>
                <a:spcPct val="0"/>
              </a:spcBef>
              <a:buFont typeface="Arial"/>
              <a:buChar char="⚬"/>
            </a:pPr>
            <a:r>
              <a:rPr lang="en-US" b="true" sz="3898" spc="-140" strike="noStrike" u="sng">
                <a:solidFill>
                  <a:srgbClr val="FFFFFF"/>
                </a:solidFill>
                <a:latin typeface="Times New Roman Bold"/>
                <a:ea typeface="Times New Roman Bold"/>
                <a:cs typeface="Times New Roman Bold"/>
                <a:sym typeface="Times New Roman Bold"/>
              </a:rPr>
              <a:t>Database:</a:t>
            </a:r>
            <a:r>
              <a:rPr lang="en-US" sz="3898" spc="-140" strike="noStrike">
                <a:solidFill>
                  <a:srgbClr val="FFFFFF"/>
                </a:solidFill>
                <a:latin typeface="Times New Roman"/>
                <a:ea typeface="Times New Roman"/>
                <a:cs typeface="Times New Roman"/>
                <a:sym typeface="Times New Roman"/>
              </a:rPr>
              <a:t> MongoDB (Flexible document schema is perfect for logging daily, unstructured time-series data).</a:t>
            </a:r>
          </a:p>
        </p:txBody>
      </p:sp>
      <p:sp>
        <p:nvSpPr>
          <p:cNvPr name="Freeform 8" id="8"/>
          <p:cNvSpPr/>
          <p:nvPr/>
        </p:nvSpPr>
        <p:spPr>
          <a:xfrm flipH="false" flipV="false" rot="0">
            <a:off x="1028700" y="1253509"/>
            <a:ext cx="16230600" cy="302552"/>
          </a:xfrm>
          <a:custGeom>
            <a:avLst/>
            <a:gdLst/>
            <a:ahLst/>
            <a:cxnLst/>
            <a:rect r="r" b="b" t="t" l="l"/>
            <a:pathLst>
              <a:path h="302552" w="16230600">
                <a:moveTo>
                  <a:pt x="0" y="0"/>
                </a:moveTo>
                <a:lnTo>
                  <a:pt x="16230600" y="0"/>
                </a:lnTo>
                <a:lnTo>
                  <a:pt x="16230600" y="302552"/>
                </a:lnTo>
                <a:lnTo>
                  <a:pt x="0" y="3025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633298" y="575310"/>
            <a:ext cx="2131571" cy="1004830"/>
            <a:chOff x="0" y="0"/>
            <a:chExt cx="2842095" cy="1339774"/>
          </a:xfrm>
        </p:grpSpPr>
        <p:sp>
          <p:nvSpPr>
            <p:cNvPr name="Freeform 10" id="10"/>
            <p:cNvSpPr/>
            <p:nvPr/>
          </p:nvSpPr>
          <p:spPr>
            <a:xfrm flipH="false" flipV="false" rot="0">
              <a:off x="0" y="0"/>
              <a:ext cx="2842133" cy="1339723"/>
            </a:xfrm>
            <a:custGeom>
              <a:avLst/>
              <a:gdLst/>
              <a:ahLst/>
              <a:cxnLst/>
              <a:rect r="r" b="b" t="t" l="l"/>
              <a:pathLst>
                <a:path h="1339723" w="2842133">
                  <a:moveTo>
                    <a:pt x="0" y="0"/>
                  </a:moveTo>
                  <a:lnTo>
                    <a:pt x="2842133" y="0"/>
                  </a:lnTo>
                  <a:lnTo>
                    <a:pt x="2842133" y="1339723"/>
                  </a:lnTo>
                  <a:lnTo>
                    <a:pt x="0" y="1339723"/>
                  </a:lnTo>
                  <a:lnTo>
                    <a:pt x="0" y="0"/>
                  </a:lnTo>
                  <a:close/>
                </a:path>
              </a:pathLst>
            </a:custGeom>
            <a:blipFill>
              <a:blip r:embed="rId5"/>
              <a:stretch>
                <a:fillRect l="-86" t="0" r="-85" b="-3"/>
              </a:stretch>
            </a:blipFill>
          </p:spPr>
        </p:sp>
      </p:grpSp>
      <p:grpSp>
        <p:nvGrpSpPr>
          <p:cNvPr name="Group 11" id="11"/>
          <p:cNvGrpSpPr/>
          <p:nvPr/>
        </p:nvGrpSpPr>
        <p:grpSpPr>
          <a:xfrm rot="0">
            <a:off x="15978664" y="-269129"/>
            <a:ext cx="2475690" cy="2475690"/>
            <a:chOff x="0" y="0"/>
            <a:chExt cx="3300921" cy="3300921"/>
          </a:xfrm>
        </p:grpSpPr>
        <p:sp>
          <p:nvSpPr>
            <p:cNvPr name="Freeform 12" id="12"/>
            <p:cNvSpPr/>
            <p:nvPr/>
          </p:nvSpPr>
          <p:spPr>
            <a:xfrm flipH="false" flipV="false" rot="0">
              <a:off x="0" y="0"/>
              <a:ext cx="3300984" cy="3300984"/>
            </a:xfrm>
            <a:custGeom>
              <a:avLst/>
              <a:gdLst/>
              <a:ahLst/>
              <a:cxnLst/>
              <a:rect r="r" b="b" t="t" l="l"/>
              <a:pathLst>
                <a:path h="3300984" w="3300984">
                  <a:moveTo>
                    <a:pt x="0" y="0"/>
                  </a:moveTo>
                  <a:lnTo>
                    <a:pt x="3300984" y="0"/>
                  </a:lnTo>
                  <a:lnTo>
                    <a:pt x="3300984" y="3300984"/>
                  </a:lnTo>
                  <a:lnTo>
                    <a:pt x="0" y="3300984"/>
                  </a:lnTo>
                  <a:lnTo>
                    <a:pt x="0" y="0"/>
                  </a:lnTo>
                  <a:close/>
                </a:path>
              </a:pathLst>
            </a:custGeom>
            <a:blipFill>
              <a:blip r:embed="rId6"/>
              <a:stretch>
                <a:fillRect l="0" t="0" r="1" b="1"/>
              </a:stretch>
            </a:blipFill>
          </p:spPr>
        </p:sp>
      </p:grpSp>
      <p:sp>
        <p:nvSpPr>
          <p:cNvPr name="TextBox 13" id="13"/>
          <p:cNvSpPr txBox="true"/>
          <p:nvPr/>
        </p:nvSpPr>
        <p:spPr>
          <a:xfrm rot="0">
            <a:off x="1125160" y="7289523"/>
            <a:ext cx="16576325" cy="4575113"/>
          </a:xfrm>
          <a:prstGeom prst="rect">
            <a:avLst/>
          </a:prstGeom>
        </p:spPr>
        <p:txBody>
          <a:bodyPr anchor="t" rtlCol="false" tIns="0" lIns="0" bIns="0" rIns="0">
            <a:spAutoFit/>
          </a:bodyPr>
          <a:lstStyle/>
          <a:p>
            <a:pPr algn="l" marL="777011" indent="-259004" lvl="2">
              <a:lnSpc>
                <a:spcPts val="5132"/>
              </a:lnSpc>
              <a:spcBef>
                <a:spcPct val="0"/>
              </a:spcBef>
              <a:buFont typeface="Arial"/>
              <a:buChar char="⚬"/>
            </a:pPr>
            <a:r>
              <a:rPr lang="en-US" b="true" sz="3399" spc="-118" u="sng">
                <a:solidFill>
                  <a:srgbClr val="FFFFFF"/>
                </a:solidFill>
                <a:latin typeface="Times New Roman Bold"/>
                <a:ea typeface="Times New Roman Bold"/>
                <a:cs typeface="Times New Roman Bold"/>
                <a:sym typeface="Times New Roman Bold"/>
              </a:rPr>
              <a:t>T</a:t>
            </a:r>
            <a:r>
              <a:rPr lang="en-US" b="true" sz="3399" spc="-118" strike="noStrike" u="sng">
                <a:solidFill>
                  <a:srgbClr val="FFFFFF"/>
                </a:solidFill>
                <a:latin typeface="Times New Roman Bold"/>
                <a:ea typeface="Times New Roman Bold"/>
                <a:cs typeface="Times New Roman Bold"/>
                <a:sym typeface="Times New Roman Bold"/>
              </a:rPr>
              <a:t>o</a:t>
            </a:r>
            <a:r>
              <a:rPr lang="en-US" b="true" sz="3399" spc="-118" strike="noStrike" u="sng">
                <a:solidFill>
                  <a:srgbClr val="FFFFFF"/>
                </a:solidFill>
                <a:latin typeface="Times New Roman Bold"/>
                <a:ea typeface="Times New Roman Bold"/>
                <a:cs typeface="Times New Roman Bold"/>
                <a:sym typeface="Times New Roman Bold"/>
              </a:rPr>
              <a:t>o</a:t>
            </a:r>
            <a:r>
              <a:rPr lang="en-US" b="true" sz="3399" spc="-118" strike="noStrike" u="sng">
                <a:solidFill>
                  <a:srgbClr val="FFFFFF"/>
                </a:solidFill>
                <a:latin typeface="Times New Roman Bold"/>
                <a:ea typeface="Times New Roman Bold"/>
                <a:cs typeface="Times New Roman Bold"/>
                <a:sym typeface="Times New Roman Bold"/>
              </a:rPr>
              <a:t>l</a:t>
            </a:r>
            <a:r>
              <a:rPr lang="en-US" b="true" sz="3399" spc="-118" strike="noStrike" u="sng">
                <a:solidFill>
                  <a:srgbClr val="FFFFFF"/>
                </a:solidFill>
                <a:latin typeface="Times New Roman Bold"/>
                <a:ea typeface="Times New Roman Bold"/>
                <a:cs typeface="Times New Roman Bold"/>
                <a:sym typeface="Times New Roman Bold"/>
              </a:rPr>
              <a:t>s </a:t>
            </a:r>
            <a:r>
              <a:rPr lang="en-US" b="true" sz="3399" spc="-118" strike="noStrike" u="sng">
                <a:solidFill>
                  <a:srgbClr val="FFFFFF"/>
                </a:solidFill>
                <a:latin typeface="Times New Roman Bold"/>
                <a:ea typeface="Times New Roman Bold"/>
                <a:cs typeface="Times New Roman Bold"/>
                <a:sym typeface="Times New Roman Bold"/>
              </a:rPr>
              <a:t>an</a:t>
            </a:r>
            <a:r>
              <a:rPr lang="en-US" b="true" sz="3399" spc="-118" strike="noStrike" u="sng">
                <a:solidFill>
                  <a:srgbClr val="FFFFFF"/>
                </a:solidFill>
                <a:latin typeface="Times New Roman Bold"/>
                <a:ea typeface="Times New Roman Bold"/>
                <a:cs typeface="Times New Roman Bold"/>
                <a:sym typeface="Times New Roman Bold"/>
              </a:rPr>
              <a:t>d APIs used</a:t>
            </a:r>
            <a:r>
              <a:rPr lang="en-US" b="true" sz="3399" spc="-118" strike="noStrike" u="sng">
                <a:solidFill>
                  <a:srgbClr val="FFFFFF"/>
                </a:solidFill>
                <a:latin typeface="Times New Roman Bold"/>
                <a:ea typeface="Times New Roman Bold"/>
                <a:cs typeface="Times New Roman Bold"/>
                <a:sym typeface="Times New Roman Bold"/>
              </a:rPr>
              <a:t>:</a:t>
            </a:r>
            <a:r>
              <a:rPr lang="en-US" sz="3399" spc="-118" strike="noStrike">
                <a:solidFill>
                  <a:srgbClr val="FFFFFF"/>
                </a:solidFill>
                <a:latin typeface="Times New Roman"/>
                <a:ea typeface="Times New Roman"/>
                <a:cs typeface="Times New Roman"/>
                <a:sym typeface="Times New Roman"/>
              </a:rPr>
              <a:t>  </a:t>
            </a:r>
          </a:p>
          <a:p>
            <a:pPr algn="l">
              <a:lnSpc>
                <a:spcPts val="5133"/>
              </a:lnSpc>
            </a:pPr>
            <a:r>
              <a:rPr lang="en-US" sz="3399" spc="-122" strike="noStrike">
                <a:solidFill>
                  <a:srgbClr val="FFFFFF"/>
                </a:solidFill>
                <a:latin typeface="Times New Roman"/>
                <a:ea typeface="Times New Roman"/>
                <a:cs typeface="Times New Roman"/>
                <a:sym typeface="Times New Roman"/>
              </a:rPr>
              <a:t>        </a:t>
            </a:r>
            <a:r>
              <a:rPr lang="en-US" sz="3399" spc="-122" strike="noStrike">
                <a:solidFill>
                  <a:srgbClr val="FFFFFF"/>
                </a:solidFill>
                <a:latin typeface="Times New Roman"/>
                <a:ea typeface="Times New Roman"/>
                <a:cs typeface="Times New Roman"/>
                <a:sym typeface="Times New Roman"/>
              </a:rPr>
              <a:t>1. MediaPipe Face Mesh: For highly efficient, client-side blink and distance detection.</a:t>
            </a:r>
          </a:p>
          <a:p>
            <a:pPr algn="l">
              <a:lnSpc>
                <a:spcPts val="5132"/>
              </a:lnSpc>
            </a:pPr>
            <a:r>
              <a:rPr lang="en-US" sz="3399" spc="-118" strike="noStrike">
                <a:solidFill>
                  <a:srgbClr val="FFFFFF"/>
                </a:solidFill>
                <a:latin typeface="Times New Roman"/>
                <a:ea typeface="Times New Roman"/>
                <a:cs typeface="Times New Roman"/>
                <a:sym typeface="Times New Roman"/>
              </a:rPr>
              <a:t>        2. Canva: To design custom UI elements and guided eye-exercise animations.</a:t>
            </a:r>
          </a:p>
          <a:p>
            <a:pPr algn="l">
              <a:lnSpc>
                <a:spcPts val="5132"/>
              </a:lnSpc>
            </a:pPr>
            <a:r>
              <a:rPr lang="en-US" sz="3399" spc="-118" strike="noStrike">
                <a:solidFill>
                  <a:srgbClr val="FFFFFF"/>
                </a:solidFill>
                <a:latin typeface="Times New Roman"/>
                <a:ea typeface="Times New Roman"/>
                <a:cs typeface="Times New Roman"/>
                <a:sym typeface="Times New Roman"/>
              </a:rPr>
              <a:t>        </a:t>
            </a:r>
            <a:r>
              <a:rPr lang="en-US" sz="3399" spc="-118" strike="noStrike">
                <a:solidFill>
                  <a:srgbClr val="FFFFFF"/>
                </a:solidFill>
                <a:latin typeface="Times New Roman"/>
                <a:ea typeface="Times New Roman"/>
                <a:cs typeface="Times New Roman"/>
                <a:sym typeface="Times New Roman"/>
              </a:rPr>
              <a:t>3. Chart.js / Recharts: To render interactive daily screen-time graphs.</a:t>
            </a:r>
          </a:p>
          <a:p>
            <a:pPr algn="l">
              <a:lnSpc>
                <a:spcPts val="5132"/>
              </a:lnSpc>
            </a:pPr>
          </a:p>
          <a:p>
            <a:pPr algn="l">
              <a:lnSpc>
                <a:spcPts val="5133"/>
              </a:lnSpc>
            </a:pPr>
          </a:p>
          <a:p>
            <a:pPr algn="l">
              <a:lnSpc>
                <a:spcPts val="5586"/>
              </a:lnSpc>
            </a:pPr>
            <a:r>
              <a:rPr lang="en-US" sz="3698" spc="-132" strike="noStrike">
                <a:solidFill>
                  <a:srgbClr val="FFFFFF"/>
                </a:solidFill>
                <a:latin typeface="Times New Roman"/>
                <a:ea typeface="Times New Roman"/>
                <a:cs typeface="Times New Roman"/>
                <a:sym typeface="Times New Roman"/>
              </a:rPr>
              <a:t>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454354" cy="10380574"/>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71" r="0" b="-9271"/>
              </a:stretch>
            </a:blipFill>
          </p:spPr>
        </p:sp>
      </p:grpSp>
      <p:sp>
        <p:nvSpPr>
          <p:cNvPr name="TextBox 4" id="4"/>
          <p:cNvSpPr txBox="true"/>
          <p:nvPr/>
        </p:nvSpPr>
        <p:spPr>
          <a:xfrm rot="0">
            <a:off x="5537927" y="835366"/>
            <a:ext cx="7667680" cy="892175"/>
          </a:xfrm>
          <a:prstGeom prst="rect">
            <a:avLst/>
          </a:prstGeom>
        </p:spPr>
        <p:txBody>
          <a:bodyPr anchor="t" rtlCol="false" tIns="0" lIns="0" bIns="0" rIns="0">
            <a:spAutoFit/>
          </a:bodyPr>
          <a:lstStyle/>
          <a:p>
            <a:pPr algn="ctr">
              <a:lnSpc>
                <a:spcPts val="7000"/>
              </a:lnSpc>
            </a:pPr>
            <a:r>
              <a:rPr lang="en-US" b="true" sz="4999" spc="-399">
                <a:solidFill>
                  <a:srgbClr val="FFFFFF"/>
                </a:solidFill>
                <a:latin typeface="Times New Roman Bold"/>
                <a:ea typeface="Times New Roman Bold"/>
                <a:cs typeface="Times New Roman Bold"/>
                <a:sym typeface="Times New Roman Bold"/>
              </a:rPr>
              <a:t>IMPLEMENTATION  PLAN</a:t>
            </a:r>
          </a:p>
        </p:txBody>
      </p:sp>
      <p:sp>
        <p:nvSpPr>
          <p:cNvPr name="TextBox 5" id="5"/>
          <p:cNvSpPr txBox="true"/>
          <p:nvPr/>
        </p:nvSpPr>
        <p:spPr>
          <a:xfrm rot="0">
            <a:off x="1028700" y="2962416"/>
            <a:ext cx="16576325" cy="2905912"/>
          </a:xfrm>
          <a:prstGeom prst="rect">
            <a:avLst/>
          </a:prstGeom>
        </p:spPr>
        <p:txBody>
          <a:bodyPr anchor="t" rtlCol="false" tIns="0" lIns="0" bIns="0" rIns="0">
            <a:spAutoFit/>
          </a:bodyPr>
          <a:lstStyle/>
          <a:p>
            <a:pPr algn="l" marL="891309" indent="-297103" lvl="2">
              <a:lnSpc>
                <a:spcPts val="5888"/>
              </a:lnSpc>
              <a:buFont typeface="Arial"/>
              <a:buChar char="⚬"/>
            </a:pPr>
            <a:r>
              <a:rPr lang="en-US" b="true" sz="3898" spc="-140" strike="noStrike" u="sng">
                <a:solidFill>
                  <a:srgbClr val="FFFFFF"/>
                </a:solidFill>
                <a:latin typeface="Times New Roman Bold"/>
                <a:ea typeface="Times New Roman Bold"/>
                <a:cs typeface="Times New Roman Bold"/>
                <a:sym typeface="Times New Roman Bold"/>
              </a:rPr>
              <a:t>Step-by-step development plan:</a:t>
            </a:r>
            <a:r>
              <a:rPr lang="en-US" sz="3898" spc="-140" strike="noStrike">
                <a:solidFill>
                  <a:srgbClr val="FFFFFF"/>
                </a:solidFill>
                <a:latin typeface="Times New Roman"/>
                <a:ea typeface="Times New Roman"/>
                <a:cs typeface="Times New Roman"/>
                <a:sym typeface="Times New Roman"/>
              </a:rPr>
              <a:t>    </a:t>
            </a:r>
            <a:r>
              <a:rPr lang="en-US" sz="3898" spc="-140" strike="noStrike">
                <a:solidFill>
                  <a:srgbClr val="FFFFFF"/>
                </a:solidFill>
                <a:latin typeface="Times New Roman"/>
                <a:ea typeface="Times New Roman"/>
                <a:cs typeface="Times New Roman"/>
                <a:sym typeface="Times New Roman"/>
              </a:rPr>
              <a:t>1. Design UI and animations. </a:t>
            </a:r>
          </a:p>
          <a:p>
            <a:pPr algn="l">
              <a:lnSpc>
                <a:spcPts val="5737"/>
              </a:lnSpc>
            </a:pPr>
            <a:r>
              <a:rPr lang="en-US" sz="3798" spc="-136" strike="noStrike">
                <a:solidFill>
                  <a:srgbClr val="FFFFFF"/>
                </a:solidFill>
                <a:latin typeface="Times New Roman"/>
                <a:ea typeface="Times New Roman"/>
                <a:cs typeface="Times New Roman"/>
                <a:sym typeface="Times New Roman"/>
              </a:rPr>
              <a:t>         </a:t>
            </a:r>
            <a:r>
              <a:rPr lang="en-US" sz="3798" spc="-136" strike="noStrike">
                <a:solidFill>
                  <a:srgbClr val="FFFFFF"/>
                </a:solidFill>
                <a:latin typeface="Times New Roman"/>
                <a:ea typeface="Times New Roman"/>
                <a:cs typeface="Times New Roman"/>
                <a:sym typeface="Times New Roman"/>
              </a:rPr>
              <a:t>2. Build React frontend with the 20-20-20 timer. </a:t>
            </a:r>
          </a:p>
          <a:p>
            <a:pPr algn="l">
              <a:lnSpc>
                <a:spcPts val="5737"/>
              </a:lnSpc>
            </a:pPr>
            <a:r>
              <a:rPr lang="en-US" sz="3798" spc="-136" strike="noStrike">
                <a:solidFill>
                  <a:srgbClr val="FFFFFF"/>
                </a:solidFill>
                <a:latin typeface="Times New Roman"/>
                <a:ea typeface="Times New Roman"/>
                <a:cs typeface="Times New Roman"/>
                <a:sym typeface="Times New Roman"/>
              </a:rPr>
              <a:t>         </a:t>
            </a:r>
            <a:r>
              <a:rPr lang="en-US" sz="3798" spc="-136" strike="noStrike">
                <a:solidFill>
                  <a:srgbClr val="FFFFFF"/>
                </a:solidFill>
                <a:latin typeface="Times New Roman"/>
                <a:ea typeface="Times New Roman"/>
                <a:cs typeface="Times New Roman"/>
                <a:sym typeface="Times New Roman"/>
              </a:rPr>
              <a:t>3. Integrate MediaPipe for advanced tracking. </a:t>
            </a:r>
          </a:p>
          <a:p>
            <a:pPr algn="l">
              <a:lnSpc>
                <a:spcPts val="5737"/>
              </a:lnSpc>
            </a:pPr>
            <a:r>
              <a:rPr lang="en-US" sz="3798" spc="-136" strike="noStrike">
                <a:solidFill>
                  <a:srgbClr val="FFFFFF"/>
                </a:solidFill>
                <a:latin typeface="Times New Roman"/>
                <a:ea typeface="Times New Roman"/>
                <a:cs typeface="Times New Roman"/>
                <a:sym typeface="Times New Roman"/>
              </a:rPr>
              <a:t>         </a:t>
            </a:r>
            <a:r>
              <a:rPr lang="en-US" sz="3798" spc="-136" strike="noStrike">
                <a:solidFill>
                  <a:srgbClr val="FFFFFF"/>
                </a:solidFill>
                <a:latin typeface="Times New Roman"/>
                <a:ea typeface="Times New Roman"/>
                <a:cs typeface="Times New Roman"/>
                <a:sym typeface="Times New Roman"/>
              </a:rPr>
              <a:t>4. Connect Python backend for user data logging. </a:t>
            </a:r>
          </a:p>
        </p:txBody>
      </p:sp>
      <p:sp>
        <p:nvSpPr>
          <p:cNvPr name="TextBox 6" id="6"/>
          <p:cNvSpPr txBox="true"/>
          <p:nvPr/>
        </p:nvSpPr>
        <p:spPr>
          <a:xfrm rot="0">
            <a:off x="1028700" y="6620803"/>
            <a:ext cx="15629630" cy="1475193"/>
          </a:xfrm>
          <a:prstGeom prst="rect">
            <a:avLst/>
          </a:prstGeom>
        </p:spPr>
        <p:txBody>
          <a:bodyPr anchor="t" rtlCol="false" tIns="0" lIns="0" bIns="0" rIns="0">
            <a:spAutoFit/>
          </a:bodyPr>
          <a:lstStyle/>
          <a:p>
            <a:pPr algn="l" marL="891437" indent="-297146" lvl="2">
              <a:lnSpc>
                <a:spcPts val="5888"/>
              </a:lnSpc>
              <a:spcBef>
                <a:spcPct val="0"/>
              </a:spcBef>
              <a:buFont typeface="Arial"/>
              <a:buChar char="⚬"/>
            </a:pPr>
            <a:r>
              <a:rPr lang="en-US" b="true" sz="3898" spc="-140" strike="noStrike" u="sng">
                <a:solidFill>
                  <a:srgbClr val="FFFFFF"/>
                </a:solidFill>
                <a:latin typeface="Times New Roman Bold"/>
                <a:ea typeface="Times New Roman Bold"/>
                <a:cs typeface="Times New Roman Bold"/>
                <a:sym typeface="Times New Roman Bold"/>
              </a:rPr>
              <a:t>Modules or features to be built:</a:t>
            </a:r>
            <a:r>
              <a:rPr lang="en-US" sz="3898" spc="-140" strike="noStrike">
                <a:solidFill>
                  <a:srgbClr val="FFFFFF"/>
                </a:solidFill>
                <a:latin typeface="Times New Roman"/>
                <a:ea typeface="Times New Roman"/>
                <a:cs typeface="Times New Roman"/>
                <a:sym typeface="Times New Roman"/>
              </a:rPr>
              <a:t>  Authentication module, Timer/Alert module, Computer Vision Tracking module, and the Analytics Dashboard.</a:t>
            </a:r>
          </a:p>
        </p:txBody>
      </p:sp>
      <p:sp>
        <p:nvSpPr>
          <p:cNvPr name="Freeform 7" id="7"/>
          <p:cNvSpPr/>
          <p:nvPr/>
        </p:nvSpPr>
        <p:spPr>
          <a:xfrm flipH="false" flipV="false" rot="0">
            <a:off x="1116730" y="1196853"/>
            <a:ext cx="16230600" cy="302552"/>
          </a:xfrm>
          <a:custGeom>
            <a:avLst/>
            <a:gdLst/>
            <a:ahLst/>
            <a:cxnLst/>
            <a:rect r="r" b="b" t="t" l="l"/>
            <a:pathLst>
              <a:path h="302552" w="16230600">
                <a:moveTo>
                  <a:pt x="0" y="0"/>
                </a:moveTo>
                <a:lnTo>
                  <a:pt x="16230600" y="0"/>
                </a:lnTo>
                <a:lnTo>
                  <a:pt x="16230600" y="302552"/>
                </a:lnTo>
                <a:lnTo>
                  <a:pt x="0" y="3025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633298" y="575310"/>
            <a:ext cx="2131571" cy="1004830"/>
            <a:chOff x="0" y="0"/>
            <a:chExt cx="2842095" cy="1339774"/>
          </a:xfrm>
        </p:grpSpPr>
        <p:sp>
          <p:nvSpPr>
            <p:cNvPr name="Freeform 9" id="9"/>
            <p:cNvSpPr/>
            <p:nvPr/>
          </p:nvSpPr>
          <p:spPr>
            <a:xfrm flipH="false" flipV="false" rot="0">
              <a:off x="0" y="0"/>
              <a:ext cx="2842133" cy="1339723"/>
            </a:xfrm>
            <a:custGeom>
              <a:avLst/>
              <a:gdLst/>
              <a:ahLst/>
              <a:cxnLst/>
              <a:rect r="r" b="b" t="t" l="l"/>
              <a:pathLst>
                <a:path h="1339723" w="2842133">
                  <a:moveTo>
                    <a:pt x="0" y="0"/>
                  </a:moveTo>
                  <a:lnTo>
                    <a:pt x="2842133" y="0"/>
                  </a:lnTo>
                  <a:lnTo>
                    <a:pt x="2842133" y="1339723"/>
                  </a:lnTo>
                  <a:lnTo>
                    <a:pt x="0" y="1339723"/>
                  </a:lnTo>
                  <a:lnTo>
                    <a:pt x="0" y="0"/>
                  </a:lnTo>
                  <a:close/>
                </a:path>
              </a:pathLst>
            </a:custGeom>
            <a:blipFill>
              <a:blip r:embed="rId5"/>
              <a:stretch>
                <a:fillRect l="-86" t="0" r="-85" b="-3"/>
              </a:stretch>
            </a:blipFill>
          </p:spPr>
        </p:sp>
      </p:grpSp>
      <p:grpSp>
        <p:nvGrpSpPr>
          <p:cNvPr name="Group 10" id="10"/>
          <p:cNvGrpSpPr/>
          <p:nvPr/>
        </p:nvGrpSpPr>
        <p:grpSpPr>
          <a:xfrm rot="0">
            <a:off x="15978664" y="-269129"/>
            <a:ext cx="2475690" cy="2475690"/>
            <a:chOff x="0" y="0"/>
            <a:chExt cx="3300921" cy="3300921"/>
          </a:xfrm>
        </p:grpSpPr>
        <p:sp>
          <p:nvSpPr>
            <p:cNvPr name="Freeform 11" id="11"/>
            <p:cNvSpPr/>
            <p:nvPr/>
          </p:nvSpPr>
          <p:spPr>
            <a:xfrm flipH="false" flipV="false" rot="0">
              <a:off x="0" y="0"/>
              <a:ext cx="3300984" cy="3300984"/>
            </a:xfrm>
            <a:custGeom>
              <a:avLst/>
              <a:gdLst/>
              <a:ahLst/>
              <a:cxnLst/>
              <a:rect r="r" b="b" t="t" l="l"/>
              <a:pathLst>
                <a:path h="3300984" w="3300984">
                  <a:moveTo>
                    <a:pt x="0" y="0"/>
                  </a:moveTo>
                  <a:lnTo>
                    <a:pt x="3300984" y="0"/>
                  </a:lnTo>
                  <a:lnTo>
                    <a:pt x="3300984" y="3300984"/>
                  </a:lnTo>
                  <a:lnTo>
                    <a:pt x="0" y="3300984"/>
                  </a:lnTo>
                  <a:lnTo>
                    <a:pt x="0" y="0"/>
                  </a:lnTo>
                  <a:close/>
                </a:path>
              </a:pathLst>
            </a:custGeom>
            <a:blipFill>
              <a:blip r:embed="rId6"/>
              <a:stretch>
                <a:fillRect l="0" t="0" r="1" b="1"/>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454354" cy="10380574"/>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38888" r="0" b="-38888"/>
              </a:stretch>
            </a:blipFill>
          </p:spPr>
        </p:sp>
      </p:grpSp>
      <p:sp>
        <p:nvSpPr>
          <p:cNvPr name="TextBox 4" id="4"/>
          <p:cNvSpPr txBox="true"/>
          <p:nvPr/>
        </p:nvSpPr>
        <p:spPr>
          <a:xfrm rot="0">
            <a:off x="4311928" y="548386"/>
            <a:ext cx="9664144" cy="892175"/>
          </a:xfrm>
          <a:prstGeom prst="rect">
            <a:avLst/>
          </a:prstGeom>
        </p:spPr>
        <p:txBody>
          <a:bodyPr anchor="t" rtlCol="false" tIns="0" lIns="0" bIns="0" rIns="0">
            <a:spAutoFit/>
          </a:bodyPr>
          <a:lstStyle/>
          <a:p>
            <a:pPr algn="ctr">
              <a:lnSpc>
                <a:spcPts val="7000"/>
              </a:lnSpc>
            </a:pPr>
            <a:r>
              <a:rPr lang="en-US" b="true" sz="4999" spc="-399">
                <a:solidFill>
                  <a:srgbClr val="FFFFFF"/>
                </a:solidFill>
                <a:latin typeface="Times New Roman Bold"/>
                <a:ea typeface="Times New Roman Bold"/>
                <a:cs typeface="Times New Roman Bold"/>
                <a:sym typeface="Times New Roman Bold"/>
              </a:rPr>
              <a:t>EXPECTED OUTCOME  / IMPACT</a:t>
            </a:r>
          </a:p>
        </p:txBody>
      </p:sp>
      <p:sp>
        <p:nvSpPr>
          <p:cNvPr name="Freeform 5" id="5"/>
          <p:cNvSpPr/>
          <p:nvPr/>
        </p:nvSpPr>
        <p:spPr>
          <a:xfrm flipH="false" flipV="false" rot="0">
            <a:off x="1565415" y="1289285"/>
            <a:ext cx="16230600" cy="302552"/>
          </a:xfrm>
          <a:custGeom>
            <a:avLst/>
            <a:gdLst/>
            <a:ahLst/>
            <a:cxnLst/>
            <a:rect r="r" b="b" t="t" l="l"/>
            <a:pathLst>
              <a:path h="302552" w="16230600">
                <a:moveTo>
                  <a:pt x="0" y="0"/>
                </a:moveTo>
                <a:lnTo>
                  <a:pt x="16230600" y="0"/>
                </a:lnTo>
                <a:lnTo>
                  <a:pt x="16230600" y="302552"/>
                </a:lnTo>
                <a:lnTo>
                  <a:pt x="0" y="3025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633298" y="575310"/>
            <a:ext cx="2131571" cy="1004830"/>
            <a:chOff x="0" y="0"/>
            <a:chExt cx="2842095" cy="1339774"/>
          </a:xfrm>
        </p:grpSpPr>
        <p:sp>
          <p:nvSpPr>
            <p:cNvPr name="Freeform 7" id="7"/>
            <p:cNvSpPr/>
            <p:nvPr/>
          </p:nvSpPr>
          <p:spPr>
            <a:xfrm flipH="false" flipV="false" rot="0">
              <a:off x="0" y="0"/>
              <a:ext cx="2842133" cy="1339723"/>
            </a:xfrm>
            <a:custGeom>
              <a:avLst/>
              <a:gdLst/>
              <a:ahLst/>
              <a:cxnLst/>
              <a:rect r="r" b="b" t="t" l="l"/>
              <a:pathLst>
                <a:path h="1339723" w="2842133">
                  <a:moveTo>
                    <a:pt x="0" y="0"/>
                  </a:moveTo>
                  <a:lnTo>
                    <a:pt x="2842133" y="0"/>
                  </a:lnTo>
                  <a:lnTo>
                    <a:pt x="2842133" y="1339723"/>
                  </a:lnTo>
                  <a:lnTo>
                    <a:pt x="0" y="1339723"/>
                  </a:lnTo>
                  <a:lnTo>
                    <a:pt x="0" y="0"/>
                  </a:lnTo>
                  <a:close/>
                </a:path>
              </a:pathLst>
            </a:custGeom>
            <a:blipFill>
              <a:blip r:embed="rId5"/>
              <a:stretch>
                <a:fillRect l="-86" t="0" r="-85" b="-3"/>
              </a:stretch>
            </a:blipFill>
          </p:spPr>
        </p:sp>
      </p:grpSp>
      <p:grpSp>
        <p:nvGrpSpPr>
          <p:cNvPr name="Group 8" id="8"/>
          <p:cNvGrpSpPr/>
          <p:nvPr/>
        </p:nvGrpSpPr>
        <p:grpSpPr>
          <a:xfrm rot="0">
            <a:off x="15978664" y="-269129"/>
            <a:ext cx="2475690" cy="2475690"/>
            <a:chOff x="0" y="0"/>
            <a:chExt cx="3300921" cy="3300921"/>
          </a:xfrm>
        </p:grpSpPr>
        <p:sp>
          <p:nvSpPr>
            <p:cNvPr name="Freeform 9" id="9"/>
            <p:cNvSpPr/>
            <p:nvPr/>
          </p:nvSpPr>
          <p:spPr>
            <a:xfrm flipH="false" flipV="false" rot="0">
              <a:off x="0" y="0"/>
              <a:ext cx="3300984" cy="3300984"/>
            </a:xfrm>
            <a:custGeom>
              <a:avLst/>
              <a:gdLst/>
              <a:ahLst/>
              <a:cxnLst/>
              <a:rect r="r" b="b" t="t" l="l"/>
              <a:pathLst>
                <a:path h="3300984" w="3300984">
                  <a:moveTo>
                    <a:pt x="0" y="0"/>
                  </a:moveTo>
                  <a:lnTo>
                    <a:pt x="3300984" y="0"/>
                  </a:lnTo>
                  <a:lnTo>
                    <a:pt x="3300984" y="3300984"/>
                  </a:lnTo>
                  <a:lnTo>
                    <a:pt x="0" y="3300984"/>
                  </a:lnTo>
                  <a:lnTo>
                    <a:pt x="0" y="0"/>
                  </a:lnTo>
                  <a:close/>
                </a:path>
              </a:pathLst>
            </a:custGeom>
            <a:blipFill>
              <a:blip r:embed="rId6"/>
              <a:stretch>
                <a:fillRect l="0" t="0" r="1" b="1"/>
              </a:stretch>
            </a:blipFill>
          </p:spPr>
        </p:sp>
      </p:grpSp>
      <p:sp>
        <p:nvSpPr>
          <p:cNvPr name="TextBox 10" id="10"/>
          <p:cNvSpPr txBox="true"/>
          <p:nvPr/>
        </p:nvSpPr>
        <p:spPr>
          <a:xfrm rot="0">
            <a:off x="901379" y="2938339"/>
            <a:ext cx="14750225" cy="1475193"/>
          </a:xfrm>
          <a:prstGeom prst="rect">
            <a:avLst/>
          </a:prstGeom>
        </p:spPr>
        <p:txBody>
          <a:bodyPr anchor="t" rtlCol="false" tIns="0" lIns="0" bIns="0" rIns="0">
            <a:spAutoFit/>
          </a:bodyPr>
          <a:lstStyle/>
          <a:p>
            <a:pPr algn="l" marL="891437" indent="-297146" lvl="2">
              <a:lnSpc>
                <a:spcPts val="5888"/>
              </a:lnSpc>
              <a:spcBef>
                <a:spcPct val="0"/>
              </a:spcBef>
              <a:buFont typeface="Arial"/>
              <a:buChar char="⚬"/>
            </a:pPr>
            <a:r>
              <a:rPr lang="en-US" b="true" sz="3898" spc="-140" strike="noStrike" u="sng">
                <a:solidFill>
                  <a:srgbClr val="FFFFFF"/>
                </a:solidFill>
                <a:latin typeface="Times New Roman Bold"/>
                <a:ea typeface="Times New Roman Bold"/>
                <a:cs typeface="Times New Roman Bold"/>
                <a:sym typeface="Times New Roman Bold"/>
              </a:rPr>
              <a:t>Expected results of the project:</a:t>
            </a:r>
            <a:r>
              <a:rPr lang="en-US" sz="3898" spc="-140" strike="noStrike">
                <a:solidFill>
                  <a:srgbClr val="FFFFFF"/>
                </a:solidFill>
                <a:latin typeface="Times New Roman"/>
                <a:ea typeface="Times New Roman"/>
                <a:cs typeface="Times New Roman"/>
                <a:sym typeface="Times New Roman"/>
              </a:rPr>
              <a:t> A fully functional web app delivering timer-based alerts, eye exercise animations, daily graphs, and weekly tips.</a:t>
            </a:r>
          </a:p>
        </p:txBody>
      </p:sp>
      <p:sp>
        <p:nvSpPr>
          <p:cNvPr name="TextBox 11" id="11"/>
          <p:cNvSpPr txBox="true"/>
          <p:nvPr/>
        </p:nvSpPr>
        <p:spPr>
          <a:xfrm rot="0">
            <a:off x="891778" y="4914900"/>
            <a:ext cx="14318832" cy="1475193"/>
          </a:xfrm>
          <a:prstGeom prst="rect">
            <a:avLst/>
          </a:prstGeom>
        </p:spPr>
        <p:txBody>
          <a:bodyPr anchor="t" rtlCol="false" tIns="0" lIns="0" bIns="0" rIns="0">
            <a:spAutoFit/>
          </a:bodyPr>
          <a:lstStyle/>
          <a:p>
            <a:pPr algn="l" marL="891437" indent="-297146" lvl="2">
              <a:lnSpc>
                <a:spcPts val="5888"/>
              </a:lnSpc>
              <a:spcBef>
                <a:spcPct val="0"/>
              </a:spcBef>
              <a:buFont typeface="Arial"/>
              <a:buChar char="⚬"/>
            </a:pPr>
            <a:r>
              <a:rPr lang="en-US" b="true" sz="3898" spc="-140" strike="noStrike" u="sng">
                <a:solidFill>
                  <a:srgbClr val="FFFFFF"/>
                </a:solidFill>
                <a:latin typeface="Times New Roman Bold"/>
                <a:ea typeface="Times New Roman Bold"/>
                <a:cs typeface="Times New Roman Bold"/>
                <a:sym typeface="Times New Roman Bold"/>
              </a:rPr>
              <a:t>Benefits to users:</a:t>
            </a:r>
            <a:r>
              <a:rPr lang="en-US" sz="3898" spc="-140" strike="noStrike">
                <a:solidFill>
                  <a:srgbClr val="FFFFFF"/>
                </a:solidFill>
                <a:latin typeface="Times New Roman"/>
                <a:ea typeface="Times New Roman"/>
                <a:cs typeface="Times New Roman"/>
                <a:sym typeface="Times New Roman"/>
              </a:rPr>
              <a:t> Drastic reduction in digital eye strain, better posture awareness, and improved long-term eye health.</a:t>
            </a:r>
          </a:p>
        </p:txBody>
      </p:sp>
      <p:sp>
        <p:nvSpPr>
          <p:cNvPr name="TextBox 12" id="12"/>
          <p:cNvSpPr txBox="true"/>
          <p:nvPr/>
        </p:nvSpPr>
        <p:spPr>
          <a:xfrm rot="0">
            <a:off x="901303" y="6895462"/>
            <a:ext cx="13720736" cy="1475193"/>
          </a:xfrm>
          <a:prstGeom prst="rect">
            <a:avLst/>
          </a:prstGeom>
        </p:spPr>
        <p:txBody>
          <a:bodyPr anchor="t" rtlCol="false" tIns="0" lIns="0" bIns="0" rIns="0">
            <a:spAutoFit/>
          </a:bodyPr>
          <a:lstStyle/>
          <a:p>
            <a:pPr algn="l" marL="891437" indent="-297146" lvl="2">
              <a:lnSpc>
                <a:spcPts val="5888"/>
              </a:lnSpc>
              <a:spcBef>
                <a:spcPct val="0"/>
              </a:spcBef>
              <a:buFont typeface="Arial"/>
              <a:buChar char="⚬"/>
            </a:pPr>
            <a:r>
              <a:rPr lang="en-US" b="true" sz="3898" spc="-140" strike="noStrike" u="sng">
                <a:solidFill>
                  <a:srgbClr val="FFFFFF"/>
                </a:solidFill>
                <a:latin typeface="Times New Roman Bold"/>
                <a:ea typeface="Times New Roman Bold"/>
                <a:cs typeface="Times New Roman Bold"/>
                <a:sym typeface="Times New Roman Bold"/>
              </a:rPr>
              <a:t>Real-world impact:</a:t>
            </a:r>
            <a:r>
              <a:rPr lang="en-US" b="true" sz="3898" spc="-140" strike="noStrike">
                <a:solidFill>
                  <a:srgbClr val="FFFFFF"/>
                </a:solidFill>
                <a:latin typeface="Times New Roman Bold"/>
                <a:ea typeface="Times New Roman Bold"/>
                <a:cs typeface="Times New Roman Bold"/>
                <a:sym typeface="Times New Roman Bold"/>
              </a:rPr>
              <a:t> </a:t>
            </a:r>
            <a:r>
              <a:rPr lang="en-US" sz="3898" spc="-140" strike="noStrike">
                <a:solidFill>
                  <a:srgbClr val="FFFFFF"/>
                </a:solidFill>
                <a:latin typeface="Times New Roman"/>
                <a:ea typeface="Times New Roman"/>
                <a:cs typeface="Times New Roman"/>
                <a:sym typeface="Times New Roman"/>
              </a:rPr>
              <a:t>Promotes digital wellness and healthier workplace ergonomics in an increasingly screen-dependent world.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454354" cy="10380574"/>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71" r="0" b="-9271"/>
              </a:stretch>
            </a:blipFill>
          </p:spPr>
        </p:sp>
      </p:grpSp>
      <p:sp>
        <p:nvSpPr>
          <p:cNvPr name="TextBox 4" id="4"/>
          <p:cNvSpPr txBox="true"/>
          <p:nvPr/>
        </p:nvSpPr>
        <p:spPr>
          <a:xfrm rot="0">
            <a:off x="4338756" y="451485"/>
            <a:ext cx="10066021" cy="1036807"/>
          </a:xfrm>
          <a:prstGeom prst="rect">
            <a:avLst/>
          </a:prstGeom>
        </p:spPr>
        <p:txBody>
          <a:bodyPr anchor="t" rtlCol="false" tIns="0" lIns="0" bIns="0" rIns="0">
            <a:spAutoFit/>
          </a:bodyPr>
          <a:lstStyle/>
          <a:p>
            <a:pPr algn="ctr">
              <a:lnSpc>
                <a:spcPts val="7163"/>
              </a:lnSpc>
            </a:pPr>
            <a:r>
              <a:rPr lang="en-US" b="true" sz="5116" spc="-409">
                <a:solidFill>
                  <a:srgbClr val="FFFFFF"/>
                </a:solidFill>
                <a:latin typeface="Times New Roman Bold"/>
                <a:ea typeface="Times New Roman Bold"/>
                <a:cs typeface="Times New Roman Bold"/>
                <a:sym typeface="Times New Roman Bold"/>
              </a:rPr>
              <a:t>FUTURE  SCOPE  AND  CONCLUSION</a:t>
            </a:r>
          </a:p>
        </p:txBody>
      </p:sp>
      <p:sp>
        <p:nvSpPr>
          <p:cNvPr name="TextBox 5" id="5"/>
          <p:cNvSpPr txBox="true"/>
          <p:nvPr/>
        </p:nvSpPr>
        <p:spPr>
          <a:xfrm rot="0">
            <a:off x="901379" y="3030798"/>
            <a:ext cx="15693942" cy="1475193"/>
          </a:xfrm>
          <a:prstGeom prst="rect">
            <a:avLst/>
          </a:prstGeom>
        </p:spPr>
        <p:txBody>
          <a:bodyPr anchor="t" rtlCol="false" tIns="0" lIns="0" bIns="0" rIns="0">
            <a:spAutoFit/>
          </a:bodyPr>
          <a:lstStyle/>
          <a:p>
            <a:pPr algn="l" marL="891437" indent="-297146" lvl="2">
              <a:lnSpc>
                <a:spcPts val="5888"/>
              </a:lnSpc>
              <a:spcBef>
                <a:spcPct val="0"/>
              </a:spcBef>
              <a:buFont typeface="Arial"/>
              <a:buChar char="⚬"/>
            </a:pPr>
            <a:r>
              <a:rPr lang="en-US" b="true" sz="3898" spc="-140" strike="noStrike" u="sng">
                <a:solidFill>
                  <a:srgbClr val="FFFFFF"/>
                </a:solidFill>
                <a:latin typeface="Times New Roman Bold"/>
                <a:ea typeface="Times New Roman Bold"/>
                <a:cs typeface="Times New Roman Bold"/>
                <a:sym typeface="Times New Roman Bold"/>
              </a:rPr>
              <a:t>Future improvements :</a:t>
            </a:r>
            <a:r>
              <a:rPr lang="en-US" b="true" sz="3898" spc="-140" strike="noStrike">
                <a:solidFill>
                  <a:srgbClr val="FFFFFF"/>
                </a:solidFill>
                <a:latin typeface="Times New Roman Bold"/>
                <a:ea typeface="Times New Roman Bold"/>
                <a:cs typeface="Times New Roman Bold"/>
                <a:sym typeface="Times New Roman Bold"/>
              </a:rPr>
              <a:t> </a:t>
            </a:r>
            <a:r>
              <a:rPr lang="en-US" sz="3898" spc="-140" strike="noStrike">
                <a:solidFill>
                  <a:srgbClr val="FFFFFF"/>
                </a:solidFill>
                <a:latin typeface="Times New Roman"/>
                <a:ea typeface="Times New Roman"/>
                <a:cs typeface="Times New Roman"/>
                <a:sym typeface="Times New Roman"/>
              </a:rPr>
              <a:t> Developing a native desktop app wrapper (Electron) to control screen brightness directly, and integrating blue-light filtering schedules.</a:t>
            </a:r>
          </a:p>
        </p:txBody>
      </p:sp>
      <p:sp>
        <p:nvSpPr>
          <p:cNvPr name="TextBox 6" id="6"/>
          <p:cNvSpPr txBox="true"/>
          <p:nvPr/>
        </p:nvSpPr>
        <p:spPr>
          <a:xfrm rot="0">
            <a:off x="863203" y="6766960"/>
            <a:ext cx="15344178" cy="1475193"/>
          </a:xfrm>
          <a:prstGeom prst="rect">
            <a:avLst/>
          </a:prstGeom>
        </p:spPr>
        <p:txBody>
          <a:bodyPr anchor="t" rtlCol="false" tIns="0" lIns="0" bIns="0" rIns="0">
            <a:spAutoFit/>
          </a:bodyPr>
          <a:lstStyle/>
          <a:p>
            <a:pPr algn="l" marL="891437" indent="-297146" lvl="2">
              <a:lnSpc>
                <a:spcPts val="5888"/>
              </a:lnSpc>
              <a:spcBef>
                <a:spcPct val="0"/>
              </a:spcBef>
              <a:buFont typeface="Arial"/>
              <a:buChar char="⚬"/>
            </a:pPr>
            <a:r>
              <a:rPr lang="en-US" b="true" sz="3898" spc="-140" strike="noStrike" u="sng">
                <a:solidFill>
                  <a:srgbClr val="FFFFFF"/>
                </a:solidFill>
                <a:latin typeface="Times New Roman Bold"/>
                <a:ea typeface="Times New Roman Bold"/>
                <a:cs typeface="Times New Roman Bold"/>
                <a:sym typeface="Times New Roman Bold"/>
              </a:rPr>
              <a:t>Scalability of the project:</a:t>
            </a:r>
            <a:r>
              <a:rPr lang="en-US" sz="3898" spc="-140" strike="noStrike">
                <a:solidFill>
                  <a:srgbClr val="FFFFFF"/>
                </a:solidFill>
                <a:latin typeface="Times New Roman"/>
                <a:ea typeface="Times New Roman"/>
                <a:cs typeface="Times New Roman"/>
                <a:sym typeface="Times New Roman"/>
              </a:rPr>
              <a:t> Drishti transforms passive eye-care guidelines into an active, intelligent, and engaging digital health companion.</a:t>
            </a:r>
          </a:p>
        </p:txBody>
      </p:sp>
      <p:sp>
        <p:nvSpPr>
          <p:cNvPr name="TextBox 7" id="7"/>
          <p:cNvSpPr txBox="true"/>
          <p:nvPr/>
        </p:nvSpPr>
        <p:spPr>
          <a:xfrm rot="0">
            <a:off x="901303" y="4898879"/>
            <a:ext cx="15077361" cy="1475193"/>
          </a:xfrm>
          <a:prstGeom prst="rect">
            <a:avLst/>
          </a:prstGeom>
        </p:spPr>
        <p:txBody>
          <a:bodyPr anchor="t" rtlCol="false" tIns="0" lIns="0" bIns="0" rIns="0">
            <a:spAutoFit/>
          </a:bodyPr>
          <a:lstStyle/>
          <a:p>
            <a:pPr algn="l" marL="891437" indent="-297146" lvl="2">
              <a:lnSpc>
                <a:spcPts val="5888"/>
              </a:lnSpc>
              <a:spcBef>
                <a:spcPct val="0"/>
              </a:spcBef>
              <a:buFont typeface="Arial"/>
              <a:buChar char="⚬"/>
            </a:pPr>
            <a:r>
              <a:rPr lang="en-US" b="true" sz="3898" spc="-140" strike="noStrike" u="sng">
                <a:solidFill>
                  <a:srgbClr val="FFFFFF"/>
                </a:solidFill>
                <a:latin typeface="Times New Roman Bold"/>
                <a:ea typeface="Times New Roman Bold"/>
                <a:cs typeface="Times New Roman Bold"/>
                <a:sym typeface="Times New Roman Bold"/>
              </a:rPr>
              <a:t>Final summary:</a:t>
            </a:r>
            <a:r>
              <a:rPr lang="en-US" sz="3898" spc="-140" strike="noStrike">
                <a:solidFill>
                  <a:srgbClr val="FFFFFF"/>
                </a:solidFill>
                <a:latin typeface="Times New Roman"/>
                <a:ea typeface="Times New Roman"/>
                <a:cs typeface="Times New Roman"/>
                <a:sym typeface="Times New Roman"/>
              </a:rPr>
              <a:t> Can be scaled into corporate wellness programs where companies offer the tool to employees to track overall team ergonomic health.</a:t>
            </a:r>
          </a:p>
        </p:txBody>
      </p:sp>
      <p:sp>
        <p:nvSpPr>
          <p:cNvPr name="Freeform 8" id="8"/>
          <p:cNvSpPr/>
          <p:nvPr/>
        </p:nvSpPr>
        <p:spPr>
          <a:xfrm flipH="false" flipV="false" rot="0">
            <a:off x="1136047" y="1271397"/>
            <a:ext cx="16230600" cy="302552"/>
          </a:xfrm>
          <a:custGeom>
            <a:avLst/>
            <a:gdLst/>
            <a:ahLst/>
            <a:cxnLst/>
            <a:rect r="r" b="b" t="t" l="l"/>
            <a:pathLst>
              <a:path h="302552" w="16230600">
                <a:moveTo>
                  <a:pt x="0" y="0"/>
                </a:moveTo>
                <a:lnTo>
                  <a:pt x="16230600" y="0"/>
                </a:lnTo>
                <a:lnTo>
                  <a:pt x="16230600" y="302552"/>
                </a:lnTo>
                <a:lnTo>
                  <a:pt x="0" y="3025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633298" y="575310"/>
            <a:ext cx="2131571" cy="1004830"/>
            <a:chOff x="0" y="0"/>
            <a:chExt cx="2842095" cy="1339774"/>
          </a:xfrm>
        </p:grpSpPr>
        <p:sp>
          <p:nvSpPr>
            <p:cNvPr name="Freeform 10" id="10"/>
            <p:cNvSpPr/>
            <p:nvPr/>
          </p:nvSpPr>
          <p:spPr>
            <a:xfrm flipH="false" flipV="false" rot="0">
              <a:off x="0" y="0"/>
              <a:ext cx="2842133" cy="1339723"/>
            </a:xfrm>
            <a:custGeom>
              <a:avLst/>
              <a:gdLst/>
              <a:ahLst/>
              <a:cxnLst/>
              <a:rect r="r" b="b" t="t" l="l"/>
              <a:pathLst>
                <a:path h="1339723" w="2842133">
                  <a:moveTo>
                    <a:pt x="0" y="0"/>
                  </a:moveTo>
                  <a:lnTo>
                    <a:pt x="2842133" y="0"/>
                  </a:lnTo>
                  <a:lnTo>
                    <a:pt x="2842133" y="1339723"/>
                  </a:lnTo>
                  <a:lnTo>
                    <a:pt x="0" y="1339723"/>
                  </a:lnTo>
                  <a:lnTo>
                    <a:pt x="0" y="0"/>
                  </a:lnTo>
                  <a:close/>
                </a:path>
              </a:pathLst>
            </a:custGeom>
            <a:blipFill>
              <a:blip r:embed="rId5"/>
              <a:stretch>
                <a:fillRect l="-86" t="0" r="-85" b="-3"/>
              </a:stretch>
            </a:blipFill>
          </p:spPr>
        </p:sp>
      </p:grpSp>
      <p:grpSp>
        <p:nvGrpSpPr>
          <p:cNvPr name="Group 11" id="11"/>
          <p:cNvGrpSpPr/>
          <p:nvPr/>
        </p:nvGrpSpPr>
        <p:grpSpPr>
          <a:xfrm rot="0">
            <a:off x="15978664" y="-269129"/>
            <a:ext cx="2475690" cy="2475690"/>
            <a:chOff x="0" y="0"/>
            <a:chExt cx="3300921" cy="3300921"/>
          </a:xfrm>
        </p:grpSpPr>
        <p:sp>
          <p:nvSpPr>
            <p:cNvPr name="Freeform 12" id="12"/>
            <p:cNvSpPr/>
            <p:nvPr/>
          </p:nvSpPr>
          <p:spPr>
            <a:xfrm flipH="false" flipV="false" rot="0">
              <a:off x="0" y="0"/>
              <a:ext cx="3300984" cy="3300984"/>
            </a:xfrm>
            <a:custGeom>
              <a:avLst/>
              <a:gdLst/>
              <a:ahLst/>
              <a:cxnLst/>
              <a:rect r="r" b="b" t="t" l="l"/>
              <a:pathLst>
                <a:path h="3300984" w="3300984">
                  <a:moveTo>
                    <a:pt x="0" y="0"/>
                  </a:moveTo>
                  <a:lnTo>
                    <a:pt x="3300984" y="0"/>
                  </a:lnTo>
                  <a:lnTo>
                    <a:pt x="3300984" y="3300984"/>
                  </a:lnTo>
                  <a:lnTo>
                    <a:pt x="0" y="3300984"/>
                  </a:lnTo>
                  <a:lnTo>
                    <a:pt x="0" y="0"/>
                  </a:lnTo>
                  <a:close/>
                </a:path>
              </a:pathLst>
            </a:custGeom>
            <a:blipFill>
              <a:blip r:embed="rId6"/>
              <a:stretch>
                <a:fillRect l="0" t="0" r="1" b="1"/>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DAHFpDttZ5w</dc:identifier>
  <dcterms:modified xsi:type="dcterms:W3CDTF">2011-08-01T06:04:30Z</dcterms:modified>
  <cp:revision>1</cp:revision>
  <dc:title>Hack Matrix Presentation pptx</dc:title>
</cp:coreProperties>
</file>